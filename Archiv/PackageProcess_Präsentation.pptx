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8" r:id="rId3"/>
    <p:sldId id="269" r:id="rId4"/>
    <p:sldId id="262" r:id="rId5"/>
    <p:sldId id="258" r:id="rId6"/>
    <p:sldId id="261" r:id="rId7"/>
    <p:sldId id="257" r:id="rId8"/>
    <p:sldId id="263" r:id="rId9"/>
    <p:sldId id="265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28201E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439915-3FD1-4353-89A4-B2EBCDE596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A917496-4F7F-43A6-EAFB-F146E0B205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271F0A-FE1D-4E13-0BCF-F10A9ACDD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4887-1312-4A4A-8E43-383F23D240A8}" type="datetimeFigureOut">
              <a:rPr lang="de-DE" smtClean="0"/>
              <a:t>06. Apr. 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BF892C-1FBC-0D28-5004-545C091D3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84B331D-5ACF-2B45-99C0-69FCE13CD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A4326-3B27-4A8F-A02D-0E314D7179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7018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94E63B-B72D-B545-DD40-897F4B449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C1FEFB-3DD0-31B1-A133-D50672829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C01F79-21BC-4EFA-9B35-46A5DD999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4887-1312-4A4A-8E43-383F23D240A8}" type="datetimeFigureOut">
              <a:rPr lang="de-DE" smtClean="0"/>
              <a:t>06. Apr. 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387393-F257-11E9-8DBE-ABE6E2EB8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A1886FE-46A1-C011-D62E-076F296DE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A4326-3B27-4A8F-A02D-0E314D7179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1389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CA7D93-32A2-F4E7-17CF-535CBA2C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61061A8-8865-ED8D-4F6D-47E132E41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B5CF9F-47E0-E44E-30EC-D5F3B1A13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4887-1312-4A4A-8E43-383F23D240A8}" type="datetimeFigureOut">
              <a:rPr lang="de-DE" smtClean="0"/>
              <a:t>06. Apr. 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BC8205-1044-9765-CDF0-546447E0E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3EE353-2179-62FB-B3A0-F01613850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A4326-3B27-4A8F-A02D-0E314D7179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205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B49E2D-C855-09C1-2B16-51425AF87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E03223-410B-7E81-280C-F13AA86EAA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96F73A9-C7FF-492E-6553-CD219745F6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E6B3BA-246C-FFCB-CCBF-1CBBF7DBC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4887-1312-4A4A-8E43-383F23D240A8}" type="datetimeFigureOut">
              <a:rPr lang="de-DE" smtClean="0"/>
              <a:t>06. Apr. 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4A68AB5-F3D6-8544-596C-376B8B10C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4201D69-A8FB-097F-499D-EC6C2C481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A4326-3B27-4A8F-A02D-0E314D7179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3329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0996BB-F7CA-108B-5F39-D5A929984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5E93CE2-E899-C0F0-9C2C-E8EF59165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CC8DDFD-E01A-F4FF-0A9F-62885D7C85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60E07E6-3F98-A8CC-0C13-AF73F7CA85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03C81C2-6480-5D77-5260-1CF4A0A449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DD3A5D4-8A20-F442-40B0-63FE1A52D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4887-1312-4A4A-8E43-383F23D240A8}" type="datetimeFigureOut">
              <a:rPr lang="de-DE" smtClean="0"/>
              <a:t>06. Apr. 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84F6ECD-2318-944A-3174-801C243FF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35F21F8-E74B-4C15-E5C4-A5BAE59FB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A4326-3B27-4A8F-A02D-0E314D7179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0818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51CCA7-ADEA-9D49-923B-2DE015363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FE90FFA-33FC-65AE-CA57-DE211E6E9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4887-1312-4A4A-8E43-383F23D240A8}" type="datetimeFigureOut">
              <a:rPr lang="de-DE" smtClean="0"/>
              <a:t>06. Apr.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0AAEC79-347A-B252-0893-E977677A6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A71F92-5E8B-65F1-D587-D2BBE03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A4326-3B27-4A8F-A02D-0E314D7179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5583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982A473-17AC-7FBA-DBCA-DA9CF878C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4887-1312-4A4A-8E43-383F23D240A8}" type="datetimeFigureOut">
              <a:rPr lang="de-DE" smtClean="0"/>
              <a:t>06. Apr. 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F17A183-AF26-B8E5-7006-25E9BC625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F585372-C4AF-62D1-B723-3C30F0D63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A4326-3B27-4A8F-A02D-0E314D7179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5363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5CEB8C-8F30-7E2C-FF4D-01749026E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F526C7-9E88-0A66-8CE5-95F0151E2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D3BB31D-1189-CC93-A9BF-7AF3570528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6AACB00-3B52-3FDF-039D-AFF7F3101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4887-1312-4A4A-8E43-383F23D240A8}" type="datetimeFigureOut">
              <a:rPr lang="de-DE" smtClean="0"/>
              <a:t>06. Apr. 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E5315A3-7775-CE03-39EB-09C54FA78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BB5D43D-7713-8584-2A3A-36659C7B4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A4326-3B27-4A8F-A02D-0E314D7179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4215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FD8A70-680C-DF95-BD43-2AC19D609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9F3F389-5136-1F2E-DFD1-19264B42EA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BF7D270-226F-A713-AA6F-E5A540520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0FF5DAB-AE90-67CF-45E5-BAAC309DA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4887-1312-4A4A-8E43-383F23D240A8}" type="datetimeFigureOut">
              <a:rPr lang="de-DE" smtClean="0"/>
              <a:t>06. Apr. 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AE74C94-71B1-C69A-24D8-CDC7CC67D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B3B6898-C8E7-1E22-9298-C8B094491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A4326-3B27-4A8F-A02D-0E314D7179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3245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580DE0-7A8B-37FC-7F48-A57BE3EA3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38F6A66-B5B3-0DC5-53B7-D2018CF773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1F09CFA-7F4C-3928-11DF-438464C9F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4887-1312-4A4A-8E43-383F23D240A8}" type="datetimeFigureOut">
              <a:rPr lang="de-DE" smtClean="0"/>
              <a:t>06. Apr. 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8E3CBA-90B8-62B9-B2B3-6CCF742F4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52C08F-DCB1-02D3-F03B-42B9EC347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A4326-3B27-4A8F-A02D-0E314D7179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6267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E546E3F-CB8C-71A3-DC1E-91C44D6377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B2E2000-38CE-7E3F-3177-F9474FBEBD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2FFB55-8814-36CF-EA3A-44AB8149D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4887-1312-4A4A-8E43-383F23D240A8}" type="datetimeFigureOut">
              <a:rPr lang="de-DE" smtClean="0"/>
              <a:t>06. Apr. 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D8CC73-5F53-B0BE-9161-A6181F1F2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AFEBD1-AB1B-87DB-9B54-BF08A4AD0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A4326-3B27-4A8F-A02D-0E314D7179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8395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9E5CACB-B026-99C2-A7CE-78636205D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09E3BF3-8522-1B23-66DD-BD08E945E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9BE5BB-2767-BCDD-B81F-A7F530B77A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064887-1312-4A4A-8E43-383F23D240A8}" type="datetimeFigureOut">
              <a:rPr lang="de-DE" smtClean="0"/>
              <a:t>06. Apr. 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DDA965B-17B7-1871-1878-34821FBBF3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D283CC-DEA5-185C-9E41-3A1EF45741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BA4326-3B27-4A8F-A02D-0E314D7179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6335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 descr="Ein Bild, das Bautechnik, Stahl, Fabrik, Werkzeugraum enthält.&#10;&#10;KI-generierte Inhalte können fehlerhaft sein.">
            <a:extLst>
              <a:ext uri="{FF2B5EF4-FFF2-40B4-BE49-F238E27FC236}">
                <a16:creationId xmlns:a16="http://schemas.microsoft.com/office/drawing/2014/main" id="{F32DDF35-9B5E-2FDC-1AA5-B16FF170219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80962"/>
            <a:ext cx="12020550" cy="6696075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D086BD31-E1BC-F4DD-4E33-A5E391CC4652}"/>
              </a:ext>
            </a:extLst>
          </p:cNvPr>
          <p:cNvSpPr txBox="1"/>
          <p:nvPr/>
        </p:nvSpPr>
        <p:spPr>
          <a:xfrm>
            <a:off x="1762817" y="922196"/>
            <a:ext cx="87931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solidFill>
                  <a:schemeClr val="bg1"/>
                </a:solidFill>
                <a:highlight>
                  <a:srgbClr val="000080"/>
                </a:highlight>
              </a:rPr>
              <a:t>„</a:t>
            </a:r>
            <a:r>
              <a:rPr lang="de-DE" sz="5400" dirty="0" err="1">
                <a:solidFill>
                  <a:schemeClr val="bg1"/>
                </a:solidFill>
                <a:highlight>
                  <a:srgbClr val="000080"/>
                </a:highlight>
              </a:rPr>
              <a:t>Machine</a:t>
            </a:r>
            <a:r>
              <a:rPr lang="de-DE" sz="5400" dirty="0">
                <a:solidFill>
                  <a:schemeClr val="bg1"/>
                </a:solidFill>
                <a:highlight>
                  <a:srgbClr val="000080"/>
                </a:highlight>
              </a:rPr>
              <a:t>-Log-Navigator“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0DE56D0-5282-95A4-D998-16FFAD3F2473}"/>
              </a:ext>
            </a:extLst>
          </p:cNvPr>
          <p:cNvSpPr txBox="1"/>
          <p:nvPr/>
        </p:nvSpPr>
        <p:spPr>
          <a:xfrm>
            <a:off x="2587181" y="1845526"/>
            <a:ext cx="67544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100" b="1" i="1" dirty="0"/>
              <a:t>DSI - Abschlußprojekt Team:   </a:t>
            </a:r>
            <a:r>
              <a:rPr lang="de-DE" sz="1100" i="1" dirty="0"/>
              <a:t>Michael Schipper, Mohamad Esber, Marco Michaelis | Date: April 2026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D4EFF53-F7EA-3888-22B7-6D62D44087C2}"/>
              </a:ext>
            </a:extLst>
          </p:cNvPr>
          <p:cNvSpPr txBox="1"/>
          <p:nvPr/>
        </p:nvSpPr>
        <p:spPr>
          <a:xfrm>
            <a:off x="1271587" y="2334189"/>
            <a:ext cx="96488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b="1" dirty="0">
                <a:solidFill>
                  <a:schemeClr val="accent3">
                    <a:lumMod val="50000"/>
                  </a:schemeClr>
                </a:solidFill>
              </a:rPr>
              <a:t>Optimierung im</a:t>
            </a:r>
          </a:p>
          <a:p>
            <a:pPr algn="ctr"/>
            <a:r>
              <a:rPr lang="de-DE" sz="5400" b="1" dirty="0">
                <a:solidFill>
                  <a:schemeClr val="accent3">
                    <a:lumMod val="50000"/>
                  </a:schemeClr>
                </a:solidFill>
              </a:rPr>
              <a:t>Logistik - Versandprozess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7E3311E-C613-1E96-3078-F8DEEF8B77F3}"/>
              </a:ext>
            </a:extLst>
          </p:cNvPr>
          <p:cNvSpPr txBox="1"/>
          <p:nvPr/>
        </p:nvSpPr>
        <p:spPr>
          <a:xfrm>
            <a:off x="1762817" y="5051163"/>
            <a:ext cx="27901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3200" b="1" dirty="0">
                <a:solidFill>
                  <a:schemeClr val="bg1"/>
                </a:solidFill>
                <a:highlight>
                  <a:srgbClr val="28201E"/>
                </a:highlight>
              </a:rPr>
              <a:t>Projektziele: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342012D-4DAF-7C45-AAA7-A82F96E1B898}"/>
              </a:ext>
            </a:extLst>
          </p:cNvPr>
          <p:cNvSpPr txBox="1"/>
          <p:nvPr/>
        </p:nvSpPr>
        <p:spPr>
          <a:xfrm>
            <a:off x="4743450" y="4866497"/>
            <a:ext cx="5372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1. Problem-Identifizierung im Verpackungsprozess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E3F62C12-57DF-0149-FFB8-FE7709B34BAF}"/>
              </a:ext>
            </a:extLst>
          </p:cNvPr>
          <p:cNvSpPr txBox="1"/>
          <p:nvPr/>
        </p:nvSpPr>
        <p:spPr>
          <a:xfrm>
            <a:off x="4733925" y="5462882"/>
            <a:ext cx="5372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2. Produktivitätssteigerung mit </a:t>
            </a:r>
            <a:r>
              <a:rPr lang="de-DE" dirty="0" err="1"/>
              <a:t>Machine</a:t>
            </a:r>
            <a:r>
              <a:rPr lang="de-DE" dirty="0"/>
              <a:t>-Learning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B678866E-B7AF-500A-19CB-A71C9BC90941}"/>
              </a:ext>
            </a:extLst>
          </p:cNvPr>
          <p:cNvCxnSpPr>
            <a:cxnSpLocks/>
          </p:cNvCxnSpPr>
          <p:nvPr/>
        </p:nvCxnSpPr>
        <p:spPr>
          <a:xfrm flipV="1">
            <a:off x="4376737" y="5051163"/>
            <a:ext cx="414338" cy="2037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84A25806-E66E-BF0F-7D5B-3A489B76BA34}"/>
              </a:ext>
            </a:extLst>
          </p:cNvPr>
          <p:cNvCxnSpPr>
            <a:cxnSpLocks/>
          </p:cNvCxnSpPr>
          <p:nvPr/>
        </p:nvCxnSpPr>
        <p:spPr>
          <a:xfrm>
            <a:off x="4438650" y="5439545"/>
            <a:ext cx="352425" cy="1963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8981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ACE5416-4F9F-DD3F-AC4D-02F2382D9BD7}"/>
              </a:ext>
            </a:extLst>
          </p:cNvPr>
          <p:cNvSpPr txBox="1"/>
          <p:nvPr/>
        </p:nvSpPr>
        <p:spPr>
          <a:xfrm>
            <a:off x="1883117" y="1087632"/>
            <a:ext cx="352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Logistik-Versandprozess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1DE4C56-8EF8-591B-2976-E0D02FFEE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235" y="1099717"/>
            <a:ext cx="5665549" cy="2865132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2412F62-B41D-B5E3-8F66-9ADA6ADBA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6387" y="3323170"/>
            <a:ext cx="4573523" cy="300014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Grafik 8" descr="Lupe mit einfarbiger Füllung">
            <a:extLst>
              <a:ext uri="{FF2B5EF4-FFF2-40B4-BE49-F238E27FC236}">
                <a16:creationId xmlns:a16="http://schemas.microsoft.com/office/drawing/2014/main" id="{E57AC745-3A62-16B0-50F1-FE30BF91B8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9905999" y="2923060"/>
            <a:ext cx="529187" cy="515575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4D3DC416-D378-873F-C86E-EC48B194E889}"/>
              </a:ext>
            </a:extLst>
          </p:cNvPr>
          <p:cNvCxnSpPr>
            <a:cxnSpLocks/>
          </p:cNvCxnSpPr>
          <p:nvPr/>
        </p:nvCxnSpPr>
        <p:spPr>
          <a:xfrm>
            <a:off x="3298825" y="2345793"/>
            <a:ext cx="4940300" cy="2092857"/>
          </a:xfrm>
          <a:prstGeom prst="straightConnector1">
            <a:avLst/>
          </a:prstGeom>
          <a:ln w="53975">
            <a:solidFill>
              <a:srgbClr val="00FF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CB58D77E-FC58-E75E-B261-7D42DE11D64D}"/>
              </a:ext>
            </a:extLst>
          </p:cNvPr>
          <p:cNvSpPr txBox="1"/>
          <p:nvPr/>
        </p:nvSpPr>
        <p:spPr>
          <a:xfrm>
            <a:off x="1098025" y="309488"/>
            <a:ext cx="972679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000" b="1" dirty="0"/>
              <a:t>Versandlager   →   Verpackungsabteilung   → Packlinien  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F62CDAE5-59E0-8E68-A8D3-8912EE36C62A}"/>
              </a:ext>
            </a:extLst>
          </p:cNvPr>
          <p:cNvSpPr txBox="1"/>
          <p:nvPr/>
        </p:nvSpPr>
        <p:spPr>
          <a:xfrm>
            <a:off x="7677762" y="2952161"/>
            <a:ext cx="33923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/>
              <a:t>Packlinien  </a:t>
            </a:r>
          </a:p>
        </p:txBody>
      </p: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D4848654-2F4A-0BF0-317F-30AD233B5F6C}"/>
              </a:ext>
            </a:extLst>
          </p:cNvPr>
          <p:cNvCxnSpPr>
            <a:cxnSpLocks/>
          </p:cNvCxnSpPr>
          <p:nvPr/>
        </p:nvCxnSpPr>
        <p:spPr>
          <a:xfrm>
            <a:off x="1325123" y="2373493"/>
            <a:ext cx="1116452" cy="468132"/>
          </a:xfrm>
          <a:prstGeom prst="line">
            <a:avLst/>
          </a:prstGeom>
          <a:ln w="31750">
            <a:solidFill>
              <a:srgbClr val="00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8D09E53D-0789-456F-FFC0-11B0287AA2FC}"/>
              </a:ext>
            </a:extLst>
          </p:cNvPr>
          <p:cNvCxnSpPr>
            <a:cxnSpLocks/>
          </p:cNvCxnSpPr>
          <p:nvPr/>
        </p:nvCxnSpPr>
        <p:spPr>
          <a:xfrm>
            <a:off x="3267075" y="1680838"/>
            <a:ext cx="917575" cy="179317"/>
          </a:xfrm>
          <a:prstGeom prst="line">
            <a:avLst/>
          </a:prstGeom>
          <a:ln w="31750">
            <a:solidFill>
              <a:srgbClr val="00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E8344917-5912-67FD-07BC-4C6A5AAA6EC6}"/>
              </a:ext>
            </a:extLst>
          </p:cNvPr>
          <p:cNvCxnSpPr>
            <a:cxnSpLocks/>
          </p:cNvCxnSpPr>
          <p:nvPr/>
        </p:nvCxnSpPr>
        <p:spPr>
          <a:xfrm flipH="1">
            <a:off x="2413000" y="1849962"/>
            <a:ext cx="1771650" cy="991663"/>
          </a:xfrm>
          <a:prstGeom prst="line">
            <a:avLst/>
          </a:prstGeom>
          <a:ln w="31750">
            <a:solidFill>
              <a:srgbClr val="00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64848FB8-4ABC-1FD5-CF9B-F620A52DA07E}"/>
              </a:ext>
            </a:extLst>
          </p:cNvPr>
          <p:cNvCxnSpPr>
            <a:cxnSpLocks/>
          </p:cNvCxnSpPr>
          <p:nvPr/>
        </p:nvCxnSpPr>
        <p:spPr>
          <a:xfrm flipH="1">
            <a:off x="1325123" y="1676076"/>
            <a:ext cx="1961001" cy="697417"/>
          </a:xfrm>
          <a:prstGeom prst="line">
            <a:avLst/>
          </a:prstGeom>
          <a:ln w="31750">
            <a:solidFill>
              <a:srgbClr val="00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Additionszeichen 39">
            <a:extLst>
              <a:ext uri="{FF2B5EF4-FFF2-40B4-BE49-F238E27FC236}">
                <a16:creationId xmlns:a16="http://schemas.microsoft.com/office/drawing/2014/main" id="{57BA0A23-8B4E-22C1-8FD4-D774F7551FCD}"/>
              </a:ext>
            </a:extLst>
          </p:cNvPr>
          <p:cNvSpPr/>
          <p:nvPr/>
        </p:nvSpPr>
        <p:spPr>
          <a:xfrm>
            <a:off x="10119027" y="3018977"/>
            <a:ext cx="184138" cy="209995"/>
          </a:xfrm>
          <a:prstGeom prst="mathPlus">
            <a:avLst/>
          </a:prstGeom>
          <a:ln w="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Pfeil: nach unten 40">
            <a:extLst>
              <a:ext uri="{FF2B5EF4-FFF2-40B4-BE49-F238E27FC236}">
                <a16:creationId xmlns:a16="http://schemas.microsoft.com/office/drawing/2014/main" id="{A8207830-6C03-2A1D-DE75-6EF1D0EE676B}"/>
              </a:ext>
            </a:extLst>
          </p:cNvPr>
          <p:cNvSpPr/>
          <p:nvPr/>
        </p:nvSpPr>
        <p:spPr>
          <a:xfrm rot="16200000">
            <a:off x="11472725" y="6153493"/>
            <a:ext cx="429545" cy="528032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1162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438BA25A-1C0F-A37C-8B58-04DFC6159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0913" y="1110007"/>
            <a:ext cx="8170961" cy="5359989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CF84D410-3312-77FF-9376-172FE5A47A67}"/>
              </a:ext>
            </a:extLst>
          </p:cNvPr>
          <p:cNvSpPr txBox="1"/>
          <p:nvPr/>
        </p:nvSpPr>
        <p:spPr>
          <a:xfrm>
            <a:off x="176874" y="548956"/>
            <a:ext cx="3361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000" b="1" dirty="0"/>
              <a:t>ca. 30 Packlinien</a:t>
            </a:r>
          </a:p>
        </p:txBody>
      </p: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1C407D4F-DD6D-A3B0-A9F8-5BADDD7CA42A}"/>
              </a:ext>
            </a:extLst>
          </p:cNvPr>
          <p:cNvCxnSpPr>
            <a:cxnSpLocks/>
          </p:cNvCxnSpPr>
          <p:nvPr/>
        </p:nvCxnSpPr>
        <p:spPr>
          <a:xfrm>
            <a:off x="2600325" y="1035505"/>
            <a:ext cx="0" cy="12132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99E65635-4117-07DC-C918-99998578154D}"/>
              </a:ext>
            </a:extLst>
          </p:cNvPr>
          <p:cNvCxnSpPr>
            <a:cxnSpLocks/>
          </p:cNvCxnSpPr>
          <p:nvPr/>
        </p:nvCxnSpPr>
        <p:spPr>
          <a:xfrm>
            <a:off x="2600325" y="2248763"/>
            <a:ext cx="3524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0031C50F-36B4-6960-7F00-41215C3BE1E9}"/>
              </a:ext>
            </a:extLst>
          </p:cNvPr>
          <p:cNvCxnSpPr>
            <a:cxnSpLocks/>
          </p:cNvCxnSpPr>
          <p:nvPr/>
        </p:nvCxnSpPr>
        <p:spPr>
          <a:xfrm>
            <a:off x="2352675" y="1045030"/>
            <a:ext cx="0" cy="1345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CF204CCD-E4A6-3E01-39F8-A99E4AE396D7}"/>
              </a:ext>
            </a:extLst>
          </p:cNvPr>
          <p:cNvCxnSpPr>
            <a:cxnSpLocks/>
          </p:cNvCxnSpPr>
          <p:nvPr/>
        </p:nvCxnSpPr>
        <p:spPr>
          <a:xfrm>
            <a:off x="2352675" y="2390775"/>
            <a:ext cx="6000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C60E40D0-E07C-8366-6806-DA5B23F38295}"/>
              </a:ext>
            </a:extLst>
          </p:cNvPr>
          <p:cNvCxnSpPr>
            <a:cxnSpLocks/>
          </p:cNvCxnSpPr>
          <p:nvPr/>
        </p:nvCxnSpPr>
        <p:spPr>
          <a:xfrm>
            <a:off x="2105025" y="1045030"/>
            <a:ext cx="0" cy="16219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F60A55F1-19D1-5DCA-D12D-9C0274D3C207}"/>
              </a:ext>
            </a:extLst>
          </p:cNvPr>
          <p:cNvCxnSpPr>
            <a:cxnSpLocks/>
          </p:cNvCxnSpPr>
          <p:nvPr/>
        </p:nvCxnSpPr>
        <p:spPr>
          <a:xfrm>
            <a:off x="2095500" y="2667000"/>
            <a:ext cx="8572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6E30D620-4F7D-3404-17B4-6AA5FB383F81}"/>
              </a:ext>
            </a:extLst>
          </p:cNvPr>
          <p:cNvCxnSpPr>
            <a:cxnSpLocks/>
          </p:cNvCxnSpPr>
          <p:nvPr/>
        </p:nvCxnSpPr>
        <p:spPr>
          <a:xfrm>
            <a:off x="1838325" y="1045030"/>
            <a:ext cx="0" cy="21744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899E7EDA-9AEF-50FF-4352-3D2FE2AA55FD}"/>
              </a:ext>
            </a:extLst>
          </p:cNvPr>
          <p:cNvCxnSpPr>
            <a:cxnSpLocks/>
          </p:cNvCxnSpPr>
          <p:nvPr/>
        </p:nvCxnSpPr>
        <p:spPr>
          <a:xfrm>
            <a:off x="1838325" y="3219450"/>
            <a:ext cx="11144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8F43E861-15FC-A8AE-26B2-711B3810A081}"/>
              </a:ext>
            </a:extLst>
          </p:cNvPr>
          <p:cNvCxnSpPr>
            <a:cxnSpLocks/>
          </p:cNvCxnSpPr>
          <p:nvPr/>
        </p:nvCxnSpPr>
        <p:spPr>
          <a:xfrm>
            <a:off x="1571625" y="1045030"/>
            <a:ext cx="0" cy="3841295"/>
          </a:xfrm>
          <a:prstGeom prst="line">
            <a:avLst/>
          </a:prstGeom>
          <a:ln w="38100">
            <a:solidFill>
              <a:srgbClr val="00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8B77E33C-BB16-44AE-F885-957BCE3E5683}"/>
              </a:ext>
            </a:extLst>
          </p:cNvPr>
          <p:cNvCxnSpPr>
            <a:cxnSpLocks/>
          </p:cNvCxnSpPr>
          <p:nvPr/>
        </p:nvCxnSpPr>
        <p:spPr>
          <a:xfrm>
            <a:off x="1571625" y="4886325"/>
            <a:ext cx="1381125" cy="0"/>
          </a:xfrm>
          <a:prstGeom prst="straightConnector1">
            <a:avLst/>
          </a:prstGeom>
          <a:ln w="38100">
            <a:solidFill>
              <a:srgbClr val="00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feld 49">
            <a:extLst>
              <a:ext uri="{FF2B5EF4-FFF2-40B4-BE49-F238E27FC236}">
                <a16:creationId xmlns:a16="http://schemas.microsoft.com/office/drawing/2014/main" id="{81FE852E-91F5-B61C-19DD-D0D7397572F1}"/>
              </a:ext>
            </a:extLst>
          </p:cNvPr>
          <p:cNvSpPr txBox="1"/>
          <p:nvPr/>
        </p:nvSpPr>
        <p:spPr>
          <a:xfrm>
            <a:off x="10013233" y="383425"/>
            <a:ext cx="17247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3000" b="1" dirty="0">
                <a:solidFill>
                  <a:schemeClr val="tx2"/>
                </a:solidFill>
                <a:highlight>
                  <a:srgbClr val="00FF00"/>
                </a:highlight>
              </a:rPr>
              <a:t>Drucker</a:t>
            </a: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E5C8F1F3-FBA4-F219-43FF-010A439E6BCF}"/>
              </a:ext>
            </a:extLst>
          </p:cNvPr>
          <p:cNvCxnSpPr>
            <a:cxnSpLocks/>
          </p:cNvCxnSpPr>
          <p:nvPr/>
        </p:nvCxnSpPr>
        <p:spPr>
          <a:xfrm>
            <a:off x="11020425" y="832760"/>
            <a:ext cx="35568" cy="2070742"/>
          </a:xfrm>
          <a:prstGeom prst="straightConnector1">
            <a:avLst/>
          </a:prstGeom>
          <a:ln w="34925">
            <a:solidFill>
              <a:srgbClr val="00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4EC91219-CEB1-D50C-2625-FAC3BFA0C3D8}"/>
              </a:ext>
            </a:extLst>
          </p:cNvPr>
          <p:cNvCxnSpPr>
            <a:cxnSpLocks/>
            <a:endCxn id="70" idx="0"/>
          </p:cNvCxnSpPr>
          <p:nvPr/>
        </p:nvCxnSpPr>
        <p:spPr>
          <a:xfrm flipH="1">
            <a:off x="10096500" y="832760"/>
            <a:ext cx="923925" cy="1972431"/>
          </a:xfrm>
          <a:prstGeom prst="straightConnector1">
            <a:avLst/>
          </a:prstGeom>
          <a:ln w="34925">
            <a:solidFill>
              <a:srgbClr val="00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DD72A971-C102-F072-AD88-990E02B3CFF3}"/>
              </a:ext>
            </a:extLst>
          </p:cNvPr>
          <p:cNvCxnSpPr>
            <a:cxnSpLocks/>
            <a:endCxn id="71" idx="7"/>
          </p:cNvCxnSpPr>
          <p:nvPr/>
        </p:nvCxnSpPr>
        <p:spPr>
          <a:xfrm flipH="1">
            <a:off x="8903422" y="832760"/>
            <a:ext cx="2117003" cy="1783735"/>
          </a:xfrm>
          <a:prstGeom prst="straightConnector1">
            <a:avLst/>
          </a:prstGeom>
          <a:ln w="34925">
            <a:solidFill>
              <a:srgbClr val="00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9FF90933-545D-5AAF-DB2A-30A4428211A5}"/>
              </a:ext>
            </a:extLst>
          </p:cNvPr>
          <p:cNvCxnSpPr>
            <a:cxnSpLocks/>
          </p:cNvCxnSpPr>
          <p:nvPr/>
        </p:nvCxnSpPr>
        <p:spPr>
          <a:xfrm flipH="1">
            <a:off x="8096250" y="832760"/>
            <a:ext cx="2924175" cy="1726069"/>
          </a:xfrm>
          <a:prstGeom prst="straightConnector1">
            <a:avLst/>
          </a:prstGeom>
          <a:ln w="34925">
            <a:solidFill>
              <a:srgbClr val="00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D0D39B8E-CE03-8E03-8408-BDFD60A440AD}"/>
              </a:ext>
            </a:extLst>
          </p:cNvPr>
          <p:cNvCxnSpPr>
            <a:cxnSpLocks/>
          </p:cNvCxnSpPr>
          <p:nvPr/>
        </p:nvCxnSpPr>
        <p:spPr>
          <a:xfrm flipH="1">
            <a:off x="7106393" y="832760"/>
            <a:ext cx="3914032" cy="1608372"/>
          </a:xfrm>
          <a:prstGeom prst="straightConnector1">
            <a:avLst/>
          </a:prstGeom>
          <a:ln w="34925">
            <a:solidFill>
              <a:srgbClr val="00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4723CD25-9688-31FE-5833-FB21ADA1B2DB}"/>
              </a:ext>
            </a:extLst>
          </p:cNvPr>
          <p:cNvCxnSpPr>
            <a:cxnSpLocks/>
          </p:cNvCxnSpPr>
          <p:nvPr/>
        </p:nvCxnSpPr>
        <p:spPr>
          <a:xfrm flipH="1">
            <a:off x="6362700" y="832760"/>
            <a:ext cx="4657725" cy="1508885"/>
          </a:xfrm>
          <a:prstGeom prst="straightConnector1">
            <a:avLst/>
          </a:prstGeom>
          <a:ln w="34925">
            <a:solidFill>
              <a:srgbClr val="00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Ellipse 68">
            <a:extLst>
              <a:ext uri="{FF2B5EF4-FFF2-40B4-BE49-F238E27FC236}">
                <a16:creationId xmlns:a16="http://schemas.microsoft.com/office/drawing/2014/main" id="{2AA3CDD6-252F-8268-9E54-A4630AED40D9}"/>
              </a:ext>
            </a:extLst>
          </p:cNvPr>
          <p:cNvSpPr/>
          <p:nvPr/>
        </p:nvSpPr>
        <p:spPr>
          <a:xfrm>
            <a:off x="10858500" y="2903502"/>
            <a:ext cx="487263" cy="393771"/>
          </a:xfrm>
          <a:prstGeom prst="ellipse">
            <a:avLst/>
          </a:prstGeom>
          <a:solidFill>
            <a:srgbClr val="00FF00">
              <a:alpha val="31000"/>
            </a:srgbClr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AF92016F-EFC9-0F38-8C7E-E34FA14DA349}"/>
              </a:ext>
            </a:extLst>
          </p:cNvPr>
          <p:cNvSpPr/>
          <p:nvPr/>
        </p:nvSpPr>
        <p:spPr>
          <a:xfrm>
            <a:off x="9852868" y="2805191"/>
            <a:ext cx="487263" cy="393771"/>
          </a:xfrm>
          <a:prstGeom prst="ellipse">
            <a:avLst/>
          </a:prstGeom>
          <a:solidFill>
            <a:srgbClr val="00FF00">
              <a:alpha val="31000"/>
            </a:srgbClr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1" name="Ellipse 70">
            <a:extLst>
              <a:ext uri="{FF2B5EF4-FFF2-40B4-BE49-F238E27FC236}">
                <a16:creationId xmlns:a16="http://schemas.microsoft.com/office/drawing/2014/main" id="{B55F71A9-21A9-719B-5E83-CD217DD72F7F}"/>
              </a:ext>
            </a:extLst>
          </p:cNvPr>
          <p:cNvSpPr/>
          <p:nvPr/>
        </p:nvSpPr>
        <p:spPr>
          <a:xfrm>
            <a:off x="8487517" y="2558829"/>
            <a:ext cx="487263" cy="393771"/>
          </a:xfrm>
          <a:prstGeom prst="ellipse">
            <a:avLst/>
          </a:prstGeom>
          <a:solidFill>
            <a:srgbClr val="00FF00">
              <a:alpha val="31000"/>
            </a:srgbClr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FC6EE3D2-BF5E-456D-C8E7-5B4274F86232}"/>
              </a:ext>
            </a:extLst>
          </p:cNvPr>
          <p:cNvSpPr/>
          <p:nvPr/>
        </p:nvSpPr>
        <p:spPr>
          <a:xfrm>
            <a:off x="7634806" y="2441132"/>
            <a:ext cx="487263" cy="393771"/>
          </a:xfrm>
          <a:prstGeom prst="ellipse">
            <a:avLst/>
          </a:prstGeom>
          <a:solidFill>
            <a:srgbClr val="00FF00">
              <a:alpha val="31000"/>
            </a:srgbClr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8" name="Ellipse 77">
            <a:extLst>
              <a:ext uri="{FF2B5EF4-FFF2-40B4-BE49-F238E27FC236}">
                <a16:creationId xmlns:a16="http://schemas.microsoft.com/office/drawing/2014/main" id="{1C02C495-9DEA-B591-166C-2426899D7E67}"/>
              </a:ext>
            </a:extLst>
          </p:cNvPr>
          <p:cNvSpPr/>
          <p:nvPr/>
        </p:nvSpPr>
        <p:spPr>
          <a:xfrm>
            <a:off x="6666532" y="2356849"/>
            <a:ext cx="487263" cy="393771"/>
          </a:xfrm>
          <a:prstGeom prst="ellipse">
            <a:avLst/>
          </a:prstGeom>
          <a:solidFill>
            <a:srgbClr val="00FF00">
              <a:alpha val="31000"/>
            </a:srgbClr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0" name="Ellipse 79">
            <a:extLst>
              <a:ext uri="{FF2B5EF4-FFF2-40B4-BE49-F238E27FC236}">
                <a16:creationId xmlns:a16="http://schemas.microsoft.com/office/drawing/2014/main" id="{DC0E9E0E-CE4A-DFD1-1019-FF1231E7D8EA}"/>
              </a:ext>
            </a:extLst>
          </p:cNvPr>
          <p:cNvSpPr/>
          <p:nvPr/>
        </p:nvSpPr>
        <p:spPr>
          <a:xfrm>
            <a:off x="5901556" y="2209214"/>
            <a:ext cx="487263" cy="393771"/>
          </a:xfrm>
          <a:prstGeom prst="ellipse">
            <a:avLst/>
          </a:prstGeom>
          <a:solidFill>
            <a:srgbClr val="00FF00">
              <a:alpha val="31000"/>
            </a:srgbClr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713206E7-0830-ED33-D557-9A6F461FEEF7}"/>
              </a:ext>
            </a:extLst>
          </p:cNvPr>
          <p:cNvSpPr txBox="1"/>
          <p:nvPr/>
        </p:nvSpPr>
        <p:spPr>
          <a:xfrm>
            <a:off x="4097095" y="1713742"/>
            <a:ext cx="1411625" cy="646331"/>
          </a:xfrm>
          <a:prstGeom prst="rect">
            <a:avLst/>
          </a:prstGeom>
          <a:solidFill>
            <a:srgbClr val="00FF00">
              <a:alpha val="39000"/>
            </a:srgbClr>
          </a:solidFill>
        </p:spPr>
        <p:txBody>
          <a:bodyPr wrap="square" rtlCol="0">
            <a:spAutoFit/>
          </a:bodyPr>
          <a:lstStyle/>
          <a:p>
            <a:r>
              <a:rPr lang="de-DE" sz="3600" dirty="0"/>
              <a:t>usw.</a:t>
            </a:r>
          </a:p>
        </p:txBody>
      </p:sp>
      <p:cxnSp>
        <p:nvCxnSpPr>
          <p:cNvPr id="88" name="Gerade Verbindung mit Pfeil 87">
            <a:extLst>
              <a:ext uri="{FF2B5EF4-FFF2-40B4-BE49-F238E27FC236}">
                <a16:creationId xmlns:a16="http://schemas.microsoft.com/office/drawing/2014/main" id="{A74EAB50-206E-0F79-082C-E32035866A18}"/>
              </a:ext>
            </a:extLst>
          </p:cNvPr>
          <p:cNvCxnSpPr>
            <a:cxnSpLocks/>
          </p:cNvCxnSpPr>
          <p:nvPr/>
        </p:nvCxnSpPr>
        <p:spPr>
          <a:xfrm flipH="1" flipV="1">
            <a:off x="3287613" y="1868131"/>
            <a:ext cx="809482" cy="106653"/>
          </a:xfrm>
          <a:prstGeom prst="straightConnector1">
            <a:avLst/>
          </a:prstGeom>
          <a:ln w="47625">
            <a:solidFill>
              <a:srgbClr val="00FF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feld 92">
            <a:extLst>
              <a:ext uri="{FF2B5EF4-FFF2-40B4-BE49-F238E27FC236}">
                <a16:creationId xmlns:a16="http://schemas.microsoft.com/office/drawing/2014/main" id="{65AA2510-3711-58CC-F488-993DA44CC391}"/>
              </a:ext>
            </a:extLst>
          </p:cNvPr>
          <p:cNvSpPr txBox="1"/>
          <p:nvPr/>
        </p:nvSpPr>
        <p:spPr>
          <a:xfrm>
            <a:off x="6611836" y="374321"/>
            <a:ext cx="37170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3000" b="1" dirty="0"/>
              <a:t>Paket-Aufkleber-</a:t>
            </a:r>
          </a:p>
        </p:txBody>
      </p:sp>
      <p:sp>
        <p:nvSpPr>
          <p:cNvPr id="103" name="Pfeil: nach unten 102">
            <a:extLst>
              <a:ext uri="{FF2B5EF4-FFF2-40B4-BE49-F238E27FC236}">
                <a16:creationId xmlns:a16="http://schemas.microsoft.com/office/drawing/2014/main" id="{DA780DD1-CB54-C79D-9E6A-D7A7C3295497}"/>
              </a:ext>
            </a:extLst>
          </p:cNvPr>
          <p:cNvSpPr/>
          <p:nvPr/>
        </p:nvSpPr>
        <p:spPr>
          <a:xfrm rot="16200000">
            <a:off x="11472725" y="6153493"/>
            <a:ext cx="429545" cy="528032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8243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31C63E44-5953-D8FC-961E-EF6989BA0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405" y="1186259"/>
            <a:ext cx="7692179" cy="5131415"/>
          </a:xfrm>
          <a:prstGeom prst="rect">
            <a:avLst/>
          </a:prstGeom>
        </p:spPr>
      </p:pic>
      <p:sp>
        <p:nvSpPr>
          <p:cNvPr id="7" name="Pfeil: gestreift nach rechts 6">
            <a:extLst>
              <a:ext uri="{FF2B5EF4-FFF2-40B4-BE49-F238E27FC236}">
                <a16:creationId xmlns:a16="http://schemas.microsoft.com/office/drawing/2014/main" id="{5C0EED9F-B41C-DDFF-D389-17FF62A130FC}"/>
              </a:ext>
            </a:extLst>
          </p:cNvPr>
          <p:cNvSpPr/>
          <p:nvPr/>
        </p:nvSpPr>
        <p:spPr>
          <a:xfrm rot="17316831">
            <a:off x="2637118" y="2833036"/>
            <a:ext cx="2986510" cy="688109"/>
          </a:xfrm>
          <a:prstGeom prst="stripedRightArrow">
            <a:avLst/>
          </a:prstGeom>
          <a:solidFill>
            <a:srgbClr val="00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sym typeface="Wingdings" panose="05000000000000000000" pitchFamily="2" charset="2"/>
              </a:rPr>
              <a:t>  </a:t>
            </a:r>
            <a:r>
              <a:rPr lang="de-DE" dirty="0">
                <a:solidFill>
                  <a:schemeClr val="tx1"/>
                </a:solidFill>
              </a:rPr>
              <a:t>Lauf-Richtung</a:t>
            </a: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730AB657-91F1-8371-8503-6C930BD54561}"/>
              </a:ext>
            </a:extLst>
          </p:cNvPr>
          <p:cNvCxnSpPr>
            <a:cxnSpLocks/>
          </p:cNvCxnSpPr>
          <p:nvPr/>
        </p:nvCxnSpPr>
        <p:spPr>
          <a:xfrm flipH="1" flipV="1">
            <a:off x="6313000" y="1884218"/>
            <a:ext cx="2720164" cy="674255"/>
          </a:xfrm>
          <a:prstGeom prst="straightConnector1">
            <a:avLst/>
          </a:prstGeom>
          <a:ln w="25400">
            <a:solidFill>
              <a:srgbClr val="00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92B1C0A0-136E-30AD-86E5-DECB4B11805A}"/>
              </a:ext>
            </a:extLst>
          </p:cNvPr>
          <p:cNvSpPr txBox="1"/>
          <p:nvPr/>
        </p:nvSpPr>
        <p:spPr>
          <a:xfrm>
            <a:off x="9014376" y="2532595"/>
            <a:ext cx="2172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Pack-Workstations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28E7FB33-B4A8-4986-A88A-FCB689430907}"/>
              </a:ext>
            </a:extLst>
          </p:cNvPr>
          <p:cNvCxnSpPr>
            <a:cxnSpLocks/>
          </p:cNvCxnSpPr>
          <p:nvPr/>
        </p:nvCxnSpPr>
        <p:spPr>
          <a:xfrm flipH="1" flipV="1">
            <a:off x="6539345" y="2221345"/>
            <a:ext cx="2493819" cy="429491"/>
          </a:xfrm>
          <a:prstGeom prst="straightConnector1">
            <a:avLst/>
          </a:prstGeom>
          <a:ln w="25400">
            <a:solidFill>
              <a:srgbClr val="00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25B38E49-B6C3-5234-6704-3B4913109E0A}"/>
              </a:ext>
            </a:extLst>
          </p:cNvPr>
          <p:cNvCxnSpPr>
            <a:cxnSpLocks/>
          </p:cNvCxnSpPr>
          <p:nvPr/>
        </p:nvCxnSpPr>
        <p:spPr>
          <a:xfrm flipH="1" flipV="1">
            <a:off x="7093527" y="2558473"/>
            <a:ext cx="1939637" cy="221672"/>
          </a:xfrm>
          <a:prstGeom prst="straightConnector1">
            <a:avLst/>
          </a:prstGeom>
          <a:ln w="25400">
            <a:solidFill>
              <a:srgbClr val="00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9FBDFEBD-1226-F2B0-EA12-738E71827CEE}"/>
              </a:ext>
            </a:extLst>
          </p:cNvPr>
          <p:cNvCxnSpPr>
            <a:cxnSpLocks/>
          </p:cNvCxnSpPr>
          <p:nvPr/>
        </p:nvCxnSpPr>
        <p:spPr>
          <a:xfrm flipH="1">
            <a:off x="7767782" y="2858656"/>
            <a:ext cx="1260599" cy="856366"/>
          </a:xfrm>
          <a:prstGeom prst="straightConnector1">
            <a:avLst/>
          </a:prstGeom>
          <a:ln w="25400">
            <a:solidFill>
              <a:srgbClr val="00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07710FEE-88B4-4333-6207-7A4643F94DEE}"/>
              </a:ext>
            </a:extLst>
          </p:cNvPr>
          <p:cNvSpPr txBox="1"/>
          <p:nvPr/>
        </p:nvSpPr>
        <p:spPr>
          <a:xfrm>
            <a:off x="823451" y="241941"/>
            <a:ext cx="69919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/>
              <a:t>Einzelne Verpackungslinie (Packline)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7CA28B9-E4FC-5EA9-BA7B-58476E87FC99}"/>
              </a:ext>
            </a:extLst>
          </p:cNvPr>
          <p:cNvSpPr txBox="1"/>
          <p:nvPr/>
        </p:nvSpPr>
        <p:spPr>
          <a:xfrm>
            <a:off x="9376912" y="241941"/>
            <a:ext cx="2544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>
                <a:solidFill>
                  <a:schemeClr val="bg1"/>
                </a:solidFill>
                <a:highlight>
                  <a:srgbClr val="000080"/>
                </a:highlight>
              </a:rPr>
              <a:t>Machine-Log-Navigator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5F3F5CE2-C5BF-3913-4DE0-15B9C758FFBA}"/>
              </a:ext>
            </a:extLst>
          </p:cNvPr>
          <p:cNvSpPr/>
          <p:nvPr/>
        </p:nvSpPr>
        <p:spPr>
          <a:xfrm>
            <a:off x="4319416" y="1258357"/>
            <a:ext cx="433560" cy="165663"/>
          </a:xfrm>
          <a:prstGeom prst="ellipse">
            <a:avLst/>
          </a:prstGeom>
          <a:solidFill>
            <a:srgbClr val="00FF00">
              <a:alpha val="31000"/>
            </a:srgbClr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4F677D9-131B-39E5-437A-181DFABA4EAA}"/>
              </a:ext>
            </a:extLst>
          </p:cNvPr>
          <p:cNvSpPr txBox="1"/>
          <p:nvPr/>
        </p:nvSpPr>
        <p:spPr>
          <a:xfrm>
            <a:off x="823450" y="725923"/>
            <a:ext cx="30563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highlight>
                  <a:srgbClr val="00FF00"/>
                </a:highlight>
              </a:rPr>
              <a:t>Drucker Versandadress-Labels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A3AB3F79-A59B-4431-0ACE-D9065037BD9C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2390775" y="1002635"/>
            <a:ext cx="1928641" cy="338554"/>
          </a:xfrm>
          <a:prstGeom prst="straightConnector1">
            <a:avLst/>
          </a:prstGeom>
          <a:ln w="38100">
            <a:solidFill>
              <a:srgbClr val="00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feld 23">
            <a:extLst>
              <a:ext uri="{FF2B5EF4-FFF2-40B4-BE49-F238E27FC236}">
                <a16:creationId xmlns:a16="http://schemas.microsoft.com/office/drawing/2014/main" id="{99D1D856-BA3A-9F58-41D5-20AEFD73D4A5}"/>
              </a:ext>
            </a:extLst>
          </p:cNvPr>
          <p:cNvSpPr txBox="1"/>
          <p:nvPr/>
        </p:nvSpPr>
        <p:spPr>
          <a:xfrm>
            <a:off x="3549938" y="730576"/>
            <a:ext cx="40319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(Paketaufkleber Kunden-Versandadresse)</a:t>
            </a:r>
          </a:p>
        </p:txBody>
      </p:sp>
      <p:sp>
        <p:nvSpPr>
          <p:cNvPr id="26" name="Pfeil: nach unten 25">
            <a:extLst>
              <a:ext uri="{FF2B5EF4-FFF2-40B4-BE49-F238E27FC236}">
                <a16:creationId xmlns:a16="http://schemas.microsoft.com/office/drawing/2014/main" id="{0461BAE2-AC0A-914A-EB09-4C589DF64ED6}"/>
              </a:ext>
            </a:extLst>
          </p:cNvPr>
          <p:cNvSpPr/>
          <p:nvPr/>
        </p:nvSpPr>
        <p:spPr>
          <a:xfrm rot="16200000">
            <a:off x="11472725" y="6153493"/>
            <a:ext cx="429545" cy="528032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3711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464354A3-F30D-6D31-5B80-1C77C499A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493" y="1127514"/>
            <a:ext cx="6166883" cy="5304931"/>
          </a:xfrm>
          <a:prstGeom prst="rect">
            <a:avLst/>
          </a:prstGeom>
        </p:spPr>
      </p:pic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57546A80-CCB2-F59D-936E-C78EFDF9F3DE}"/>
              </a:ext>
            </a:extLst>
          </p:cNvPr>
          <p:cNvCxnSpPr/>
          <p:nvPr/>
        </p:nvCxnSpPr>
        <p:spPr>
          <a:xfrm flipH="1" flipV="1">
            <a:off x="3769243" y="2096653"/>
            <a:ext cx="3869230" cy="83127"/>
          </a:xfrm>
          <a:prstGeom prst="straightConnector1">
            <a:avLst/>
          </a:prstGeom>
          <a:ln w="25400">
            <a:solidFill>
              <a:srgbClr val="00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7C1EE129-93CD-E5BC-6160-04CCAFF97DCE}"/>
              </a:ext>
            </a:extLst>
          </p:cNvPr>
          <p:cNvSpPr txBox="1"/>
          <p:nvPr/>
        </p:nvSpPr>
        <p:spPr>
          <a:xfrm>
            <a:off x="7599217" y="1995114"/>
            <a:ext cx="3252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Kunden-Bestellbarcode-ID</a:t>
            </a:r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ADD07494-B574-58D9-3F54-D1DE94135DBB}"/>
              </a:ext>
            </a:extLst>
          </p:cNvPr>
          <p:cNvCxnSpPr/>
          <p:nvPr/>
        </p:nvCxnSpPr>
        <p:spPr>
          <a:xfrm flipH="1" flipV="1">
            <a:off x="3921643" y="4087089"/>
            <a:ext cx="3869230" cy="83127"/>
          </a:xfrm>
          <a:prstGeom prst="straightConnector1">
            <a:avLst/>
          </a:prstGeom>
          <a:ln w="25400">
            <a:solidFill>
              <a:srgbClr val="00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5A5229D4-CEEC-C6C5-BC3E-3B6A9A5026C7}"/>
              </a:ext>
            </a:extLst>
          </p:cNvPr>
          <p:cNvSpPr txBox="1"/>
          <p:nvPr/>
        </p:nvSpPr>
        <p:spPr>
          <a:xfrm>
            <a:off x="7726221" y="3985550"/>
            <a:ext cx="2660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Boxbarcode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44227DD-ECFA-969F-B79C-E8A29D5BAA5F}"/>
              </a:ext>
            </a:extLst>
          </p:cNvPr>
          <p:cNvSpPr txBox="1"/>
          <p:nvPr/>
        </p:nvSpPr>
        <p:spPr>
          <a:xfrm>
            <a:off x="8219245" y="6232843"/>
            <a:ext cx="3468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highlight>
                  <a:srgbClr val="00FF00"/>
                </a:highlight>
              </a:rPr>
              <a:t>Paket läuft zur Label-Maschine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803BF5DF-4BE3-25F7-3C13-44828FEC3CCA}"/>
              </a:ext>
            </a:extLst>
          </p:cNvPr>
          <p:cNvSpPr txBox="1"/>
          <p:nvPr/>
        </p:nvSpPr>
        <p:spPr>
          <a:xfrm>
            <a:off x="556493" y="350557"/>
            <a:ext cx="45679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/>
              <a:t>Mitarbeiter (Workstation)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C22334A7-06CC-C3D6-DB63-B01303423293}"/>
              </a:ext>
            </a:extLst>
          </p:cNvPr>
          <p:cNvSpPr txBox="1"/>
          <p:nvPr/>
        </p:nvSpPr>
        <p:spPr>
          <a:xfrm>
            <a:off x="5016915" y="422432"/>
            <a:ext cx="30353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Kundenbestellung verpacken</a:t>
            </a:r>
          </a:p>
          <a:p>
            <a:r>
              <a:rPr lang="de-DE" sz="1200" dirty="0"/>
              <a:t>Bestell-Barcode aufkleben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C1A26954-8CAB-FB89-5F2E-DA5640F12172}"/>
              </a:ext>
            </a:extLst>
          </p:cNvPr>
          <p:cNvSpPr/>
          <p:nvPr/>
        </p:nvSpPr>
        <p:spPr>
          <a:xfrm rot="2427125">
            <a:off x="2380907" y="3037014"/>
            <a:ext cx="501857" cy="302251"/>
          </a:xfrm>
          <a:prstGeom prst="rect">
            <a:avLst/>
          </a:prstGeom>
          <a:noFill/>
          <a:ln w="952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8120EC2F-9554-17B8-9243-4CD5B2F9C1BA}"/>
              </a:ext>
            </a:extLst>
          </p:cNvPr>
          <p:cNvCxnSpPr>
            <a:cxnSpLocks/>
          </p:cNvCxnSpPr>
          <p:nvPr/>
        </p:nvCxnSpPr>
        <p:spPr>
          <a:xfrm flipH="1">
            <a:off x="2613891" y="2533270"/>
            <a:ext cx="794327" cy="615649"/>
          </a:xfrm>
          <a:prstGeom prst="straightConnector1">
            <a:avLst/>
          </a:prstGeom>
          <a:ln w="25400">
            <a:solidFill>
              <a:srgbClr val="00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75B68CFD-AAEE-E951-C47A-0AE1F387903C}"/>
              </a:ext>
            </a:extLst>
          </p:cNvPr>
          <p:cNvSpPr txBox="1"/>
          <p:nvPr/>
        </p:nvSpPr>
        <p:spPr>
          <a:xfrm>
            <a:off x="9376912" y="241941"/>
            <a:ext cx="2544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>
                <a:solidFill>
                  <a:schemeClr val="bg1"/>
                </a:solidFill>
                <a:highlight>
                  <a:srgbClr val="000080"/>
                </a:highlight>
              </a:rPr>
              <a:t>Machine-Log-Navigator</a:t>
            </a:r>
          </a:p>
        </p:txBody>
      </p:sp>
      <p:sp>
        <p:nvSpPr>
          <p:cNvPr id="3" name="Pfeil: nach unten 2">
            <a:extLst>
              <a:ext uri="{FF2B5EF4-FFF2-40B4-BE49-F238E27FC236}">
                <a16:creationId xmlns:a16="http://schemas.microsoft.com/office/drawing/2014/main" id="{1D816B42-E465-1C35-FCCF-F3FBEBBE08D4}"/>
              </a:ext>
            </a:extLst>
          </p:cNvPr>
          <p:cNvSpPr/>
          <p:nvPr/>
        </p:nvSpPr>
        <p:spPr>
          <a:xfrm rot="16200000">
            <a:off x="11472725" y="6153493"/>
            <a:ext cx="429545" cy="528032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455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feld 31">
            <a:extLst>
              <a:ext uri="{FF2B5EF4-FFF2-40B4-BE49-F238E27FC236}">
                <a16:creationId xmlns:a16="http://schemas.microsoft.com/office/drawing/2014/main" id="{53C9237C-E628-E692-B363-223E9F868DFD}"/>
              </a:ext>
            </a:extLst>
          </p:cNvPr>
          <p:cNvSpPr txBox="1"/>
          <p:nvPr/>
        </p:nvSpPr>
        <p:spPr>
          <a:xfrm>
            <a:off x="8231343" y="5178302"/>
            <a:ext cx="35893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highlight>
                  <a:srgbClr val="00FF00"/>
                </a:highlight>
              </a:rPr>
              <a:t>Kunden-Adresslabel-</a:t>
            </a:r>
            <a:r>
              <a:rPr lang="de-DE" sz="1600" dirty="0" err="1">
                <a:highlight>
                  <a:srgbClr val="00FF00"/>
                </a:highlight>
              </a:rPr>
              <a:t>Stickervorgang</a:t>
            </a:r>
            <a:endParaRPr lang="de-DE" sz="1600" dirty="0">
              <a:highlight>
                <a:srgbClr val="00FF00"/>
              </a:highlight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4F64F6A-8696-4090-4FD8-91B3B13CE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1486435"/>
            <a:ext cx="7250122" cy="4856802"/>
          </a:xfrm>
          <a:prstGeom prst="rect">
            <a:avLst/>
          </a:prstGeom>
        </p:spPr>
      </p:pic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81D0F4A3-E913-88A6-994B-4FEDE7E92C65}"/>
              </a:ext>
            </a:extLst>
          </p:cNvPr>
          <p:cNvCxnSpPr>
            <a:cxnSpLocks/>
          </p:cNvCxnSpPr>
          <p:nvPr/>
        </p:nvCxnSpPr>
        <p:spPr>
          <a:xfrm flipH="1">
            <a:off x="7374890" y="1766032"/>
            <a:ext cx="180456" cy="168211"/>
          </a:xfrm>
          <a:prstGeom prst="straightConnector1">
            <a:avLst/>
          </a:prstGeom>
          <a:ln w="25400">
            <a:solidFill>
              <a:srgbClr val="00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0F491203-3C4E-9CF4-1799-4409859A4753}"/>
              </a:ext>
            </a:extLst>
          </p:cNvPr>
          <p:cNvSpPr txBox="1"/>
          <p:nvPr/>
        </p:nvSpPr>
        <p:spPr>
          <a:xfrm>
            <a:off x="8252727" y="1488389"/>
            <a:ext cx="2660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highlight>
                  <a:srgbClr val="00FF00"/>
                </a:highlight>
              </a:rPr>
              <a:t>Barcode-Scanner</a:t>
            </a: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A6376D25-DADE-7E65-65E7-B61575EC1C53}"/>
              </a:ext>
            </a:extLst>
          </p:cNvPr>
          <p:cNvCxnSpPr>
            <a:cxnSpLocks/>
          </p:cNvCxnSpPr>
          <p:nvPr/>
        </p:nvCxnSpPr>
        <p:spPr>
          <a:xfrm flipH="1">
            <a:off x="7330536" y="3563292"/>
            <a:ext cx="821776" cy="0"/>
          </a:xfrm>
          <a:prstGeom prst="straightConnector1">
            <a:avLst/>
          </a:prstGeom>
          <a:ln w="25400">
            <a:solidFill>
              <a:srgbClr val="00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684807E6-684E-3564-E28D-756A93C03C7E}"/>
              </a:ext>
            </a:extLst>
          </p:cNvPr>
          <p:cNvSpPr txBox="1"/>
          <p:nvPr/>
        </p:nvSpPr>
        <p:spPr>
          <a:xfrm>
            <a:off x="8054065" y="3291917"/>
            <a:ext cx="1819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highlight>
                  <a:srgbClr val="00FF00"/>
                </a:highlight>
              </a:rPr>
              <a:t>Waage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4EA1706D-9640-5AF0-363F-9A2FF6A3CA48}"/>
              </a:ext>
            </a:extLst>
          </p:cNvPr>
          <p:cNvCxnSpPr>
            <a:cxnSpLocks/>
          </p:cNvCxnSpPr>
          <p:nvPr/>
        </p:nvCxnSpPr>
        <p:spPr>
          <a:xfrm flipH="1" flipV="1">
            <a:off x="6049369" y="2229085"/>
            <a:ext cx="865842" cy="383619"/>
          </a:xfrm>
          <a:prstGeom prst="straightConnector1">
            <a:avLst/>
          </a:prstGeom>
          <a:ln w="25400">
            <a:solidFill>
              <a:srgbClr val="00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132FFD1F-1FE5-3448-F493-33AF0A3664B7}"/>
              </a:ext>
            </a:extLst>
          </p:cNvPr>
          <p:cNvSpPr txBox="1"/>
          <p:nvPr/>
        </p:nvSpPr>
        <p:spPr>
          <a:xfrm>
            <a:off x="8224365" y="2322173"/>
            <a:ext cx="2115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highlight>
                  <a:srgbClr val="00FF00"/>
                </a:highlight>
              </a:rPr>
              <a:t>Adresslabel-Rollen</a:t>
            </a:r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29786450-923A-E053-E79A-8290A1F03953}"/>
              </a:ext>
            </a:extLst>
          </p:cNvPr>
          <p:cNvCxnSpPr>
            <a:cxnSpLocks/>
          </p:cNvCxnSpPr>
          <p:nvPr/>
        </p:nvCxnSpPr>
        <p:spPr>
          <a:xfrm flipH="1" flipV="1">
            <a:off x="3814618" y="3195782"/>
            <a:ext cx="3926806" cy="1299233"/>
          </a:xfrm>
          <a:prstGeom prst="straightConnector1">
            <a:avLst/>
          </a:prstGeom>
          <a:ln w="25400">
            <a:solidFill>
              <a:srgbClr val="00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41795F51-BD39-C812-AECC-12BBE0CB2E34}"/>
              </a:ext>
            </a:extLst>
          </p:cNvPr>
          <p:cNvSpPr txBox="1"/>
          <p:nvPr/>
        </p:nvSpPr>
        <p:spPr>
          <a:xfrm>
            <a:off x="8224365" y="4221803"/>
            <a:ext cx="2295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highlight>
                  <a:srgbClr val="00FF00"/>
                </a:highlight>
              </a:rPr>
              <a:t>Adresslabel-Drucker</a:t>
            </a: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5DDCBACC-93FC-6EF3-61D3-22C6BF7FA4F1}"/>
              </a:ext>
            </a:extLst>
          </p:cNvPr>
          <p:cNvCxnSpPr>
            <a:cxnSpLocks/>
          </p:cNvCxnSpPr>
          <p:nvPr/>
        </p:nvCxnSpPr>
        <p:spPr>
          <a:xfrm flipH="1" flipV="1">
            <a:off x="2960211" y="4633325"/>
            <a:ext cx="4466664" cy="783367"/>
          </a:xfrm>
          <a:prstGeom prst="straightConnector1">
            <a:avLst/>
          </a:prstGeom>
          <a:ln w="25400">
            <a:solidFill>
              <a:srgbClr val="00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E6813169-BC7C-94AA-DB94-2B12D47A69F7}"/>
              </a:ext>
            </a:extLst>
          </p:cNvPr>
          <p:cNvCxnSpPr>
            <a:cxnSpLocks/>
          </p:cNvCxnSpPr>
          <p:nvPr/>
        </p:nvCxnSpPr>
        <p:spPr>
          <a:xfrm flipH="1">
            <a:off x="7555346" y="1766032"/>
            <a:ext cx="780119" cy="0"/>
          </a:xfrm>
          <a:prstGeom prst="straightConnector1">
            <a:avLst/>
          </a:prstGeom>
          <a:ln w="25400">
            <a:solidFill>
              <a:srgbClr val="00FF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9E23F57D-CBDB-0BEE-BFE2-334AF659228F}"/>
              </a:ext>
            </a:extLst>
          </p:cNvPr>
          <p:cNvCxnSpPr>
            <a:cxnSpLocks/>
          </p:cNvCxnSpPr>
          <p:nvPr/>
        </p:nvCxnSpPr>
        <p:spPr>
          <a:xfrm flipH="1">
            <a:off x="6915211" y="2600738"/>
            <a:ext cx="1420254" cy="0"/>
          </a:xfrm>
          <a:prstGeom prst="straightConnector1">
            <a:avLst/>
          </a:prstGeom>
          <a:ln w="25400">
            <a:solidFill>
              <a:srgbClr val="00FF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E77E53DD-F397-806F-2F47-261E2CEA60D6}"/>
              </a:ext>
            </a:extLst>
          </p:cNvPr>
          <p:cNvCxnSpPr>
            <a:cxnSpLocks/>
          </p:cNvCxnSpPr>
          <p:nvPr/>
        </p:nvCxnSpPr>
        <p:spPr>
          <a:xfrm flipH="1">
            <a:off x="7388391" y="5427890"/>
            <a:ext cx="947074" cy="0"/>
          </a:xfrm>
          <a:prstGeom prst="straightConnector1">
            <a:avLst/>
          </a:prstGeom>
          <a:ln w="25400">
            <a:solidFill>
              <a:srgbClr val="00FF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feld 58">
            <a:extLst>
              <a:ext uri="{FF2B5EF4-FFF2-40B4-BE49-F238E27FC236}">
                <a16:creationId xmlns:a16="http://schemas.microsoft.com/office/drawing/2014/main" id="{C2DE509A-7BB0-01C7-45EC-2D75FCE98835}"/>
              </a:ext>
            </a:extLst>
          </p:cNvPr>
          <p:cNvSpPr txBox="1"/>
          <p:nvPr/>
        </p:nvSpPr>
        <p:spPr>
          <a:xfrm>
            <a:off x="463519" y="400077"/>
            <a:ext cx="103971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/>
              <a:t>Label-Maschine  (Labelmachine) =&gt; Versand-Abfertigung)</a:t>
            </a:r>
          </a:p>
          <a:p>
            <a:r>
              <a:rPr lang="de-DE" sz="1600" dirty="0">
                <a:highlight>
                  <a:srgbClr val="00FF00"/>
                </a:highlight>
              </a:rPr>
              <a:t> Logfile-Erzeugung 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067621C-7DF7-2162-F8E6-15837114BFBB}"/>
              </a:ext>
            </a:extLst>
          </p:cNvPr>
          <p:cNvSpPr/>
          <p:nvPr/>
        </p:nvSpPr>
        <p:spPr>
          <a:xfrm>
            <a:off x="6915210" y="1881866"/>
            <a:ext cx="511665" cy="341633"/>
          </a:xfrm>
          <a:prstGeom prst="ellipse">
            <a:avLst/>
          </a:prstGeom>
          <a:solidFill>
            <a:srgbClr val="00FF00">
              <a:alpha val="46000"/>
            </a:srgbClr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E4E1E2C-BFC7-CD38-EF9E-7DFF4A3C2A98}"/>
              </a:ext>
            </a:extLst>
          </p:cNvPr>
          <p:cNvSpPr txBox="1"/>
          <p:nvPr/>
        </p:nvSpPr>
        <p:spPr>
          <a:xfrm>
            <a:off x="8321964" y="1827450"/>
            <a:ext cx="294413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50" dirty="0"/>
              <a:t>Strichcodesticker (Kundenbestell-Daten)   </a:t>
            </a:r>
          </a:p>
          <a:p>
            <a:r>
              <a:rPr lang="de-DE" sz="1050" dirty="0"/>
              <a:t>&amp;   Verpackungsbarcode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F3338DB-2BC1-71B7-C22D-D685CF05468C}"/>
              </a:ext>
            </a:extLst>
          </p:cNvPr>
          <p:cNvSpPr txBox="1"/>
          <p:nvPr/>
        </p:nvSpPr>
        <p:spPr>
          <a:xfrm>
            <a:off x="8185531" y="6203853"/>
            <a:ext cx="3468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Labelmaschine &amp; QA-Kontrolle</a:t>
            </a:r>
          </a:p>
        </p:txBody>
      </p:sp>
      <p:sp>
        <p:nvSpPr>
          <p:cNvPr id="7" name="Pfeil: nach rechts 6">
            <a:extLst>
              <a:ext uri="{FF2B5EF4-FFF2-40B4-BE49-F238E27FC236}">
                <a16:creationId xmlns:a16="http://schemas.microsoft.com/office/drawing/2014/main" id="{E4728521-AE92-A11E-FA09-FF1F143453AC}"/>
              </a:ext>
            </a:extLst>
          </p:cNvPr>
          <p:cNvSpPr/>
          <p:nvPr/>
        </p:nvSpPr>
        <p:spPr>
          <a:xfrm>
            <a:off x="11342733" y="6172949"/>
            <a:ext cx="570345" cy="4023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5DA8FE4A-0A38-8B33-A9AF-120594643106}"/>
              </a:ext>
            </a:extLst>
          </p:cNvPr>
          <p:cNvSpPr txBox="1"/>
          <p:nvPr/>
        </p:nvSpPr>
        <p:spPr>
          <a:xfrm>
            <a:off x="8206465" y="2603502"/>
            <a:ext cx="19119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(Blanko-Sticker)</a:t>
            </a:r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B34348BB-30CB-FBA0-D5B4-0DB91A52BF18}"/>
              </a:ext>
            </a:extLst>
          </p:cNvPr>
          <p:cNvCxnSpPr>
            <a:cxnSpLocks/>
          </p:cNvCxnSpPr>
          <p:nvPr/>
        </p:nvCxnSpPr>
        <p:spPr>
          <a:xfrm flipH="1">
            <a:off x="7033688" y="3485989"/>
            <a:ext cx="393187" cy="236830"/>
          </a:xfrm>
          <a:prstGeom prst="line">
            <a:avLst/>
          </a:prstGeom>
          <a:ln w="31750">
            <a:solidFill>
              <a:srgbClr val="00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CD9A275C-4D71-23F7-2ABE-234F5B6542E4}"/>
              </a:ext>
            </a:extLst>
          </p:cNvPr>
          <p:cNvCxnSpPr>
            <a:cxnSpLocks/>
          </p:cNvCxnSpPr>
          <p:nvPr/>
        </p:nvCxnSpPr>
        <p:spPr>
          <a:xfrm flipH="1" flipV="1">
            <a:off x="5948218" y="3604404"/>
            <a:ext cx="1083324" cy="116928"/>
          </a:xfrm>
          <a:prstGeom prst="line">
            <a:avLst/>
          </a:prstGeom>
          <a:ln w="31750">
            <a:solidFill>
              <a:srgbClr val="00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5C8835FA-D994-5E5C-A93A-7DA7B4A6A4D4}"/>
              </a:ext>
            </a:extLst>
          </p:cNvPr>
          <p:cNvCxnSpPr>
            <a:cxnSpLocks/>
          </p:cNvCxnSpPr>
          <p:nvPr/>
        </p:nvCxnSpPr>
        <p:spPr>
          <a:xfrm flipH="1">
            <a:off x="5948218" y="3426112"/>
            <a:ext cx="488301" cy="175716"/>
          </a:xfrm>
          <a:prstGeom prst="line">
            <a:avLst/>
          </a:prstGeom>
          <a:ln w="31750">
            <a:solidFill>
              <a:srgbClr val="00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239D6E41-8C33-E035-0028-D431A3AEF235}"/>
              </a:ext>
            </a:extLst>
          </p:cNvPr>
          <p:cNvCxnSpPr>
            <a:cxnSpLocks/>
          </p:cNvCxnSpPr>
          <p:nvPr/>
        </p:nvCxnSpPr>
        <p:spPr>
          <a:xfrm flipH="1">
            <a:off x="6429902" y="3426112"/>
            <a:ext cx="52388" cy="0"/>
          </a:xfrm>
          <a:prstGeom prst="line">
            <a:avLst/>
          </a:prstGeom>
          <a:ln w="31750">
            <a:solidFill>
              <a:srgbClr val="00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830A0F84-C217-9421-93CB-7693C104664F}"/>
              </a:ext>
            </a:extLst>
          </p:cNvPr>
          <p:cNvCxnSpPr>
            <a:cxnSpLocks/>
          </p:cNvCxnSpPr>
          <p:nvPr/>
        </p:nvCxnSpPr>
        <p:spPr>
          <a:xfrm flipH="1">
            <a:off x="7374890" y="3485989"/>
            <a:ext cx="52388" cy="0"/>
          </a:xfrm>
          <a:prstGeom prst="line">
            <a:avLst/>
          </a:prstGeom>
          <a:ln w="31750">
            <a:solidFill>
              <a:srgbClr val="00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Ellipse 34">
            <a:extLst>
              <a:ext uri="{FF2B5EF4-FFF2-40B4-BE49-F238E27FC236}">
                <a16:creationId xmlns:a16="http://schemas.microsoft.com/office/drawing/2014/main" id="{28E8FC28-614E-3729-8619-6400EC129A29}"/>
              </a:ext>
            </a:extLst>
          </p:cNvPr>
          <p:cNvSpPr/>
          <p:nvPr/>
        </p:nvSpPr>
        <p:spPr>
          <a:xfrm>
            <a:off x="2398532" y="1486436"/>
            <a:ext cx="1545659" cy="2174812"/>
          </a:xfrm>
          <a:prstGeom prst="ellipse">
            <a:avLst/>
          </a:prstGeom>
          <a:solidFill>
            <a:srgbClr val="00FF00">
              <a:alpha val="46000"/>
            </a:srgbClr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Pfeil: gestreift nach rechts 4">
            <a:extLst>
              <a:ext uri="{FF2B5EF4-FFF2-40B4-BE49-F238E27FC236}">
                <a16:creationId xmlns:a16="http://schemas.microsoft.com/office/drawing/2014/main" id="{C043DFB5-76FB-393A-58DF-F9D8760F18A6}"/>
              </a:ext>
            </a:extLst>
          </p:cNvPr>
          <p:cNvSpPr/>
          <p:nvPr/>
        </p:nvSpPr>
        <p:spPr>
          <a:xfrm rot="19627890" flipH="1">
            <a:off x="4400940" y="4536078"/>
            <a:ext cx="3094557" cy="866498"/>
          </a:xfrm>
          <a:prstGeom prst="stripedRightArrow">
            <a:avLst/>
          </a:prstGeom>
          <a:solidFill>
            <a:srgbClr val="00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Laufrichtung  </a:t>
            </a:r>
            <a:r>
              <a:rPr lang="de-DE" dirty="0">
                <a:sym typeface="Wingdings" panose="05000000000000000000" pitchFamily="2" charset="2"/>
              </a:rPr>
              <a:t></a:t>
            </a:r>
            <a:endParaRPr lang="de-DE" dirty="0"/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CF423354-120A-FFBC-F0D5-FB0052892CD4}"/>
              </a:ext>
            </a:extLst>
          </p:cNvPr>
          <p:cNvCxnSpPr>
            <a:cxnSpLocks/>
          </p:cNvCxnSpPr>
          <p:nvPr/>
        </p:nvCxnSpPr>
        <p:spPr>
          <a:xfrm flipH="1">
            <a:off x="7741424" y="4495015"/>
            <a:ext cx="563894" cy="0"/>
          </a:xfrm>
          <a:prstGeom prst="straightConnector1">
            <a:avLst/>
          </a:prstGeom>
          <a:ln w="25400">
            <a:solidFill>
              <a:srgbClr val="00FF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Ellipse 43">
            <a:extLst>
              <a:ext uri="{FF2B5EF4-FFF2-40B4-BE49-F238E27FC236}">
                <a16:creationId xmlns:a16="http://schemas.microsoft.com/office/drawing/2014/main" id="{465AA614-5B68-FBEE-1B72-01A69E5B8CE5}"/>
              </a:ext>
            </a:extLst>
          </p:cNvPr>
          <p:cNvSpPr/>
          <p:nvPr/>
        </p:nvSpPr>
        <p:spPr>
          <a:xfrm>
            <a:off x="5477856" y="1652653"/>
            <a:ext cx="897179" cy="960051"/>
          </a:xfrm>
          <a:prstGeom prst="ellipse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3449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Ein Bild, das Bautechnik, Stahl, Fabrik, Werkzeugraum enthält.&#10;&#10;KI-generierte Inhalte können fehlerhaft sein.">
            <a:extLst>
              <a:ext uri="{FF2B5EF4-FFF2-40B4-BE49-F238E27FC236}">
                <a16:creationId xmlns:a16="http://schemas.microsoft.com/office/drawing/2014/main" id="{C06E13C1-CF15-813E-DB61-7D5AB74608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894" y="955301"/>
            <a:ext cx="7144747" cy="5353797"/>
          </a:xfrm>
          <a:prstGeom prst="rect">
            <a:avLst/>
          </a:prstGeom>
        </p:spPr>
      </p:pic>
      <p:sp>
        <p:nvSpPr>
          <p:cNvPr id="10" name="Pfeil: gestreift nach rechts 9">
            <a:extLst>
              <a:ext uri="{FF2B5EF4-FFF2-40B4-BE49-F238E27FC236}">
                <a16:creationId xmlns:a16="http://schemas.microsoft.com/office/drawing/2014/main" id="{464474A5-66D7-9991-26A0-7987FB26CDB6}"/>
              </a:ext>
            </a:extLst>
          </p:cNvPr>
          <p:cNvSpPr/>
          <p:nvPr/>
        </p:nvSpPr>
        <p:spPr>
          <a:xfrm rot="21115646" flipH="1">
            <a:off x="4908979" y="4111041"/>
            <a:ext cx="3094557" cy="866498"/>
          </a:xfrm>
          <a:prstGeom prst="stripedRightArrow">
            <a:avLst/>
          </a:prstGeom>
          <a:solidFill>
            <a:srgbClr val="00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bg1">
                    <a:lumMod val="65000"/>
                  </a:schemeClr>
                </a:solidFill>
              </a:rPr>
              <a:t>Laufrichtung  </a:t>
            </a:r>
            <a:r>
              <a:rPr lang="de-DE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</a:t>
            </a:r>
            <a:endParaRPr lang="de-DE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6C2C856-C246-B5B3-1024-307E33157E90}"/>
              </a:ext>
            </a:extLst>
          </p:cNvPr>
          <p:cNvSpPr txBox="1"/>
          <p:nvPr/>
        </p:nvSpPr>
        <p:spPr>
          <a:xfrm>
            <a:off x="9937043" y="1625661"/>
            <a:ext cx="1636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i="1" dirty="0"/>
              <a:t>Scanner in Aktion</a:t>
            </a: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C3B64FA5-D51A-26B9-7819-A6CD22C09E84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8146473" y="1764161"/>
            <a:ext cx="1790570" cy="0"/>
          </a:xfrm>
          <a:prstGeom prst="straightConnector1">
            <a:avLst/>
          </a:prstGeom>
          <a:ln w="25400">
            <a:solidFill>
              <a:srgbClr val="00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hteck 18">
            <a:extLst>
              <a:ext uri="{FF2B5EF4-FFF2-40B4-BE49-F238E27FC236}">
                <a16:creationId xmlns:a16="http://schemas.microsoft.com/office/drawing/2014/main" id="{BC7F62CA-78AB-FCFD-17C0-D5867A34FA10}"/>
              </a:ext>
            </a:extLst>
          </p:cNvPr>
          <p:cNvSpPr/>
          <p:nvPr/>
        </p:nvSpPr>
        <p:spPr>
          <a:xfrm rot="21295450">
            <a:off x="495117" y="4197801"/>
            <a:ext cx="2592577" cy="330687"/>
          </a:xfrm>
          <a:prstGeom prst="rect">
            <a:avLst/>
          </a:prstGeom>
          <a:solidFill>
            <a:srgbClr val="2820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42723B3F-4EB5-DDD4-74B4-0F2259001371}"/>
              </a:ext>
            </a:extLst>
          </p:cNvPr>
          <p:cNvSpPr/>
          <p:nvPr/>
        </p:nvSpPr>
        <p:spPr>
          <a:xfrm rot="16200000">
            <a:off x="841462" y="4679128"/>
            <a:ext cx="1117602" cy="330687"/>
          </a:xfrm>
          <a:prstGeom prst="rect">
            <a:avLst/>
          </a:prstGeom>
          <a:solidFill>
            <a:srgbClr val="2820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18A04283-0B39-2252-3ACF-9E557F8ADC1E}"/>
              </a:ext>
            </a:extLst>
          </p:cNvPr>
          <p:cNvSpPr/>
          <p:nvPr/>
        </p:nvSpPr>
        <p:spPr>
          <a:xfrm>
            <a:off x="532950" y="5392746"/>
            <a:ext cx="1772759" cy="942109"/>
          </a:xfrm>
          <a:prstGeom prst="rect">
            <a:avLst/>
          </a:prstGeom>
          <a:solidFill>
            <a:srgbClr val="0033CC"/>
          </a:solidFill>
          <a:ln w="3492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QA</a:t>
            </a:r>
          </a:p>
          <a:p>
            <a:pPr algn="ctr"/>
            <a:r>
              <a:rPr lang="de-DE" dirty="0"/>
              <a:t>Workstation</a:t>
            </a:r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18A75901-E06A-57BA-0826-D233AF06C8F1}"/>
              </a:ext>
            </a:extLst>
          </p:cNvPr>
          <p:cNvCxnSpPr>
            <a:cxnSpLocks/>
          </p:cNvCxnSpPr>
          <p:nvPr/>
        </p:nvCxnSpPr>
        <p:spPr>
          <a:xfrm flipH="1">
            <a:off x="1827202" y="4285670"/>
            <a:ext cx="427756" cy="50689"/>
          </a:xfrm>
          <a:prstGeom prst="straightConnector1">
            <a:avLst/>
          </a:prstGeom>
          <a:ln w="25400">
            <a:solidFill>
              <a:srgbClr val="00FF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8A18EFB3-F57E-9178-152C-2939DCB86267}"/>
              </a:ext>
            </a:extLst>
          </p:cNvPr>
          <p:cNvCxnSpPr>
            <a:cxnSpLocks/>
          </p:cNvCxnSpPr>
          <p:nvPr/>
        </p:nvCxnSpPr>
        <p:spPr>
          <a:xfrm flipH="1">
            <a:off x="871817" y="4394938"/>
            <a:ext cx="427756" cy="50689"/>
          </a:xfrm>
          <a:prstGeom prst="straightConnector1">
            <a:avLst/>
          </a:prstGeom>
          <a:ln w="25400">
            <a:solidFill>
              <a:srgbClr val="00FF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F993F038-96B5-28AC-19DB-199A2015773E}"/>
              </a:ext>
            </a:extLst>
          </p:cNvPr>
          <p:cNvCxnSpPr>
            <a:cxnSpLocks/>
          </p:cNvCxnSpPr>
          <p:nvPr/>
        </p:nvCxnSpPr>
        <p:spPr>
          <a:xfrm>
            <a:off x="1399244" y="4587338"/>
            <a:ext cx="0" cy="514266"/>
          </a:xfrm>
          <a:prstGeom prst="straightConnector1">
            <a:avLst/>
          </a:prstGeom>
          <a:ln w="25400">
            <a:solidFill>
              <a:srgbClr val="FF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848B2089-9543-F77C-0072-AC9361385C6D}"/>
              </a:ext>
            </a:extLst>
          </p:cNvPr>
          <p:cNvCxnSpPr>
            <a:cxnSpLocks/>
          </p:cNvCxnSpPr>
          <p:nvPr/>
        </p:nvCxnSpPr>
        <p:spPr>
          <a:xfrm>
            <a:off x="1430047" y="3898054"/>
            <a:ext cx="0" cy="3322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feld 32">
            <a:extLst>
              <a:ext uri="{FF2B5EF4-FFF2-40B4-BE49-F238E27FC236}">
                <a16:creationId xmlns:a16="http://schemas.microsoft.com/office/drawing/2014/main" id="{06E67DA9-E8D0-3A40-DBB4-FC0438591899}"/>
              </a:ext>
            </a:extLst>
          </p:cNvPr>
          <p:cNvSpPr txBox="1"/>
          <p:nvPr/>
        </p:nvSpPr>
        <p:spPr>
          <a:xfrm>
            <a:off x="455517" y="3022346"/>
            <a:ext cx="21151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r>
              <a:rPr lang="de-DE" dirty="0" err="1"/>
              <a:t>Kickout</a:t>
            </a:r>
            <a:r>
              <a:rPr lang="de-DE" dirty="0"/>
              <a:t> (KO)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94888D6D-EBE0-A4CF-E266-6CF6B03693F4}"/>
              </a:ext>
            </a:extLst>
          </p:cNvPr>
          <p:cNvSpPr txBox="1"/>
          <p:nvPr/>
        </p:nvSpPr>
        <p:spPr>
          <a:xfrm>
            <a:off x="485571" y="202680"/>
            <a:ext cx="10473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/>
              <a:t>Projekt-Fokus =   </a:t>
            </a:r>
            <a:r>
              <a:rPr lang="de-DE" sz="3200" dirty="0">
                <a:highlight>
                  <a:srgbClr val="00FF00"/>
                </a:highlight>
              </a:rPr>
              <a:t>Kickoutprozess</a:t>
            </a:r>
            <a:r>
              <a:rPr lang="de-DE" sz="3200" dirty="0"/>
              <a:t> &amp; </a:t>
            </a:r>
            <a:r>
              <a:rPr lang="de-DE" sz="3200" dirty="0">
                <a:highlight>
                  <a:srgbClr val="00FF00"/>
                </a:highlight>
              </a:rPr>
              <a:t>Logdatenanalyse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00DEFC9-CC83-3A00-0632-55559A6839A9}"/>
              </a:ext>
            </a:extLst>
          </p:cNvPr>
          <p:cNvSpPr txBox="1"/>
          <p:nvPr/>
        </p:nvSpPr>
        <p:spPr>
          <a:xfrm>
            <a:off x="564901" y="2979136"/>
            <a:ext cx="2020664" cy="561692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de-DE" sz="1250" dirty="0">
                <a:solidFill>
                  <a:schemeClr val="bg1"/>
                </a:solidFill>
              </a:rPr>
              <a:t>Problemerkennung</a:t>
            </a:r>
          </a:p>
          <a:p>
            <a:pPr algn="ctr"/>
            <a:r>
              <a:rPr lang="de-DE" sz="1800" dirty="0" err="1">
                <a:solidFill>
                  <a:schemeClr val="bg1"/>
                </a:solidFill>
              </a:rPr>
              <a:t>Machine</a:t>
            </a:r>
            <a:r>
              <a:rPr lang="de-DE" sz="1800" dirty="0">
                <a:solidFill>
                  <a:schemeClr val="bg1"/>
                </a:solidFill>
              </a:rPr>
              <a:t>-Learning</a:t>
            </a:r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DFAEAA7F-FE0B-D0C3-DF25-77714514EC1B}"/>
              </a:ext>
            </a:extLst>
          </p:cNvPr>
          <p:cNvCxnSpPr>
            <a:cxnSpLocks/>
            <a:endCxn id="18" idx="7"/>
          </p:cNvCxnSpPr>
          <p:nvPr/>
        </p:nvCxnSpPr>
        <p:spPr>
          <a:xfrm flipH="1">
            <a:off x="2566166" y="701964"/>
            <a:ext cx="2061252" cy="2442001"/>
          </a:xfrm>
          <a:prstGeom prst="straightConnector1">
            <a:avLst/>
          </a:prstGeom>
          <a:ln w="53975">
            <a:solidFill>
              <a:srgbClr val="00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lipse 17">
            <a:extLst>
              <a:ext uri="{FF2B5EF4-FFF2-40B4-BE49-F238E27FC236}">
                <a16:creationId xmlns:a16="http://schemas.microsoft.com/office/drawing/2014/main" id="{356BBC1A-522C-9EF7-83D1-BC4A0FFAB297}"/>
              </a:ext>
            </a:extLst>
          </p:cNvPr>
          <p:cNvSpPr/>
          <p:nvPr/>
        </p:nvSpPr>
        <p:spPr>
          <a:xfrm>
            <a:off x="150603" y="2546101"/>
            <a:ext cx="2830008" cy="4082473"/>
          </a:xfrm>
          <a:prstGeom prst="ellipse">
            <a:avLst/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7DAEFA5E-EDAA-7A19-6057-24DB146A2F20}"/>
              </a:ext>
            </a:extLst>
          </p:cNvPr>
          <p:cNvSpPr/>
          <p:nvPr/>
        </p:nvSpPr>
        <p:spPr>
          <a:xfrm>
            <a:off x="3820412" y="1249331"/>
            <a:ext cx="3679516" cy="1976831"/>
          </a:xfrm>
          <a:prstGeom prst="ellipse">
            <a:avLst/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868A4479-5D6C-2B56-A705-0108BE64B09D}"/>
              </a:ext>
            </a:extLst>
          </p:cNvPr>
          <p:cNvCxnSpPr>
            <a:cxnSpLocks/>
          </p:cNvCxnSpPr>
          <p:nvPr/>
        </p:nvCxnSpPr>
        <p:spPr>
          <a:xfrm flipH="1">
            <a:off x="6806741" y="701964"/>
            <a:ext cx="600823" cy="757383"/>
          </a:xfrm>
          <a:prstGeom prst="straightConnector1">
            <a:avLst/>
          </a:prstGeom>
          <a:ln w="53975">
            <a:solidFill>
              <a:srgbClr val="00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feld 35">
            <a:extLst>
              <a:ext uri="{FF2B5EF4-FFF2-40B4-BE49-F238E27FC236}">
                <a16:creationId xmlns:a16="http://schemas.microsoft.com/office/drawing/2014/main" id="{C3738334-1952-F1D6-18C9-4F850F1D720D}"/>
              </a:ext>
            </a:extLst>
          </p:cNvPr>
          <p:cNvSpPr txBox="1"/>
          <p:nvPr/>
        </p:nvSpPr>
        <p:spPr>
          <a:xfrm>
            <a:off x="641735" y="2331474"/>
            <a:ext cx="18322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dirty="0">
                <a:solidFill>
                  <a:srgbClr val="C00000"/>
                </a:solidFill>
              </a:rPr>
              <a:t>Produktivitäts-steigerung</a:t>
            </a:r>
          </a:p>
        </p:txBody>
      </p:sp>
    </p:spTree>
    <p:extLst>
      <p:ext uri="{BB962C8B-B14F-4D97-AF65-F5344CB8AC3E}">
        <p14:creationId xmlns:p14="http://schemas.microsoft.com/office/powerpoint/2010/main" val="359237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5DA710-7168-EB00-79B6-37454B75F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072" y="277771"/>
            <a:ext cx="10515600" cy="1325563"/>
          </a:xfrm>
        </p:spPr>
        <p:txBody>
          <a:bodyPr/>
          <a:lstStyle/>
          <a:p>
            <a:r>
              <a:rPr lang="de-DE" sz="2800" b="1" dirty="0"/>
              <a:t>Projekt-Basis</a:t>
            </a:r>
            <a:r>
              <a:rPr lang="de-DE" dirty="0"/>
              <a:t>        Insight </a:t>
            </a:r>
            <a:r>
              <a:rPr lang="de-DE" dirty="0">
                <a:highlight>
                  <a:srgbClr val="00FF00"/>
                </a:highlight>
              </a:rPr>
              <a:t>Log-Data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B5B1C7A-542E-D029-CEB3-F2F7C8509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72" y="2572115"/>
            <a:ext cx="11260347" cy="1238209"/>
          </a:xfrm>
          <a:prstGeom prst="rect">
            <a:avLst/>
          </a:prstGeom>
        </p:spPr>
      </p:pic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DC667D10-A414-B0A9-80D8-C5E3C9163BFB}"/>
              </a:ext>
            </a:extLst>
          </p:cNvPr>
          <p:cNvCxnSpPr>
            <a:cxnSpLocks/>
          </p:cNvCxnSpPr>
          <p:nvPr/>
        </p:nvCxnSpPr>
        <p:spPr>
          <a:xfrm flipH="1">
            <a:off x="726141" y="2048161"/>
            <a:ext cx="271386" cy="39353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51954C7B-F901-F892-F1BF-1C034AE3DEB0}"/>
              </a:ext>
            </a:extLst>
          </p:cNvPr>
          <p:cNvCxnSpPr>
            <a:cxnSpLocks/>
          </p:cNvCxnSpPr>
          <p:nvPr/>
        </p:nvCxnSpPr>
        <p:spPr>
          <a:xfrm>
            <a:off x="2105257" y="2060961"/>
            <a:ext cx="591761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077361E0-2EFF-D061-1E8C-F52D076B8DEB}"/>
              </a:ext>
            </a:extLst>
          </p:cNvPr>
          <p:cNvSpPr txBox="1"/>
          <p:nvPr/>
        </p:nvSpPr>
        <p:spPr>
          <a:xfrm>
            <a:off x="2003313" y="1841481"/>
            <a:ext cx="788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/>
              <a:t>Priorität</a:t>
            </a: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33688DFC-30F4-96D0-0C28-44D2C9CB831A}"/>
              </a:ext>
            </a:extLst>
          </p:cNvPr>
          <p:cNvCxnSpPr>
            <a:cxnSpLocks/>
          </p:cNvCxnSpPr>
          <p:nvPr/>
        </p:nvCxnSpPr>
        <p:spPr>
          <a:xfrm flipH="1">
            <a:off x="1852286" y="2066023"/>
            <a:ext cx="252971" cy="4062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2E8C97D5-0B8D-2039-5E41-3AACA9D66653}"/>
              </a:ext>
            </a:extLst>
          </p:cNvPr>
          <p:cNvCxnSpPr>
            <a:cxnSpLocks/>
          </p:cNvCxnSpPr>
          <p:nvPr/>
        </p:nvCxnSpPr>
        <p:spPr>
          <a:xfrm>
            <a:off x="2991763" y="2057397"/>
            <a:ext cx="1229255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CE283432-2F39-2D20-2620-8FDF4AE640DB}"/>
              </a:ext>
            </a:extLst>
          </p:cNvPr>
          <p:cNvSpPr txBox="1"/>
          <p:nvPr/>
        </p:nvSpPr>
        <p:spPr>
          <a:xfrm>
            <a:off x="2723103" y="1832245"/>
            <a:ext cx="15989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/>
              <a:t>Maschinenbereich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7F34625A-A1DB-E985-D65C-25FC42083237}"/>
              </a:ext>
            </a:extLst>
          </p:cNvPr>
          <p:cNvSpPr txBox="1"/>
          <p:nvPr/>
        </p:nvSpPr>
        <p:spPr>
          <a:xfrm>
            <a:off x="712684" y="1832245"/>
            <a:ext cx="10527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/>
              <a:t>Timestamp</a:t>
            </a: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5C056274-23DB-B81C-3878-BEBCB9EB13A9}"/>
              </a:ext>
            </a:extLst>
          </p:cNvPr>
          <p:cNvCxnSpPr>
            <a:cxnSpLocks/>
          </p:cNvCxnSpPr>
          <p:nvPr/>
        </p:nvCxnSpPr>
        <p:spPr>
          <a:xfrm flipH="1">
            <a:off x="1337395" y="2048161"/>
            <a:ext cx="269732" cy="4062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0BF8638A-5F98-025B-0676-9BA18539D51D}"/>
              </a:ext>
            </a:extLst>
          </p:cNvPr>
          <p:cNvCxnSpPr>
            <a:cxnSpLocks/>
          </p:cNvCxnSpPr>
          <p:nvPr/>
        </p:nvCxnSpPr>
        <p:spPr>
          <a:xfrm>
            <a:off x="786572" y="2048161"/>
            <a:ext cx="1005283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DF4310CE-F542-FA9E-CBD9-BA723708539D}"/>
              </a:ext>
            </a:extLst>
          </p:cNvPr>
          <p:cNvCxnSpPr>
            <a:cxnSpLocks/>
          </p:cNvCxnSpPr>
          <p:nvPr/>
        </p:nvCxnSpPr>
        <p:spPr>
          <a:xfrm flipH="1">
            <a:off x="2655666" y="2057397"/>
            <a:ext cx="336916" cy="4794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DCC30585-3466-90EF-5E1D-7BF3B01C9673}"/>
              </a:ext>
            </a:extLst>
          </p:cNvPr>
          <p:cNvCxnSpPr>
            <a:cxnSpLocks/>
          </p:cNvCxnSpPr>
          <p:nvPr/>
        </p:nvCxnSpPr>
        <p:spPr>
          <a:xfrm flipH="1">
            <a:off x="4052560" y="2081424"/>
            <a:ext cx="334713" cy="5290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3399D439-86A4-19F6-50D2-7A472BD4038D}"/>
              </a:ext>
            </a:extLst>
          </p:cNvPr>
          <p:cNvCxnSpPr>
            <a:cxnSpLocks/>
          </p:cNvCxnSpPr>
          <p:nvPr/>
        </p:nvCxnSpPr>
        <p:spPr>
          <a:xfrm>
            <a:off x="6293765" y="2075884"/>
            <a:ext cx="5103908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feld 41">
            <a:extLst>
              <a:ext uri="{FF2B5EF4-FFF2-40B4-BE49-F238E27FC236}">
                <a16:creationId xmlns:a16="http://schemas.microsoft.com/office/drawing/2014/main" id="{F7664028-031C-EC25-49C7-F30529B1855C}"/>
              </a:ext>
            </a:extLst>
          </p:cNvPr>
          <p:cNvSpPr txBox="1"/>
          <p:nvPr/>
        </p:nvSpPr>
        <p:spPr>
          <a:xfrm>
            <a:off x="6289964" y="1827777"/>
            <a:ext cx="51758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Log-Details (hier Paket-, Scanner,- Gewichtsdaten)</a:t>
            </a:r>
          </a:p>
        </p:txBody>
      </p: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EA679DAB-6379-E91A-1158-20BCC0A650A0}"/>
              </a:ext>
            </a:extLst>
          </p:cNvPr>
          <p:cNvCxnSpPr>
            <a:cxnSpLocks/>
          </p:cNvCxnSpPr>
          <p:nvPr/>
        </p:nvCxnSpPr>
        <p:spPr>
          <a:xfrm>
            <a:off x="4387273" y="2081424"/>
            <a:ext cx="1679972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feld 43">
            <a:extLst>
              <a:ext uri="{FF2B5EF4-FFF2-40B4-BE49-F238E27FC236}">
                <a16:creationId xmlns:a16="http://schemas.microsoft.com/office/drawing/2014/main" id="{EF7C89CF-FA7C-8896-DB6B-598FFB4862FB}"/>
              </a:ext>
            </a:extLst>
          </p:cNvPr>
          <p:cNvSpPr txBox="1"/>
          <p:nvPr/>
        </p:nvSpPr>
        <p:spPr>
          <a:xfrm>
            <a:off x="4348125" y="1829125"/>
            <a:ext cx="17364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/>
              <a:t>IT Sytem der Logsource</a:t>
            </a:r>
          </a:p>
        </p:txBody>
      </p: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44DAC300-D027-93F7-F739-5C20810EE570}"/>
              </a:ext>
            </a:extLst>
          </p:cNvPr>
          <p:cNvCxnSpPr>
            <a:cxnSpLocks/>
          </p:cNvCxnSpPr>
          <p:nvPr/>
        </p:nvCxnSpPr>
        <p:spPr>
          <a:xfrm flipH="1">
            <a:off x="5925830" y="2081424"/>
            <a:ext cx="372760" cy="6247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Grafik 51">
            <a:extLst>
              <a:ext uri="{FF2B5EF4-FFF2-40B4-BE49-F238E27FC236}">
                <a16:creationId xmlns:a16="http://schemas.microsoft.com/office/drawing/2014/main" id="{62B0AEBD-0D4D-0C08-2A10-1A9F954BA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127" y="4464952"/>
            <a:ext cx="9975273" cy="1769450"/>
          </a:xfrm>
          <a:prstGeom prst="ellipse">
            <a:avLst/>
          </a:prstGeom>
          <a:ln w="952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033F90DC-3DA5-A1B5-6B60-792A878FEBEB}"/>
              </a:ext>
            </a:extLst>
          </p:cNvPr>
          <p:cNvCxnSpPr>
            <a:cxnSpLocks/>
          </p:cNvCxnSpPr>
          <p:nvPr/>
        </p:nvCxnSpPr>
        <p:spPr>
          <a:xfrm flipH="1">
            <a:off x="4554841" y="2872509"/>
            <a:ext cx="3942614" cy="21894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DD0AD0F0-7F62-1F4D-FC69-B6CBE32E429A}"/>
              </a:ext>
            </a:extLst>
          </p:cNvPr>
          <p:cNvCxnSpPr>
            <a:cxnSpLocks/>
          </p:cNvCxnSpPr>
          <p:nvPr/>
        </p:nvCxnSpPr>
        <p:spPr>
          <a:xfrm flipH="1">
            <a:off x="3358732" y="2872509"/>
            <a:ext cx="4501413" cy="22171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BEC1B94E-CC4D-A246-E119-D8268372D6F5}"/>
              </a:ext>
            </a:extLst>
          </p:cNvPr>
          <p:cNvCxnSpPr>
            <a:cxnSpLocks/>
          </p:cNvCxnSpPr>
          <p:nvPr/>
        </p:nvCxnSpPr>
        <p:spPr>
          <a:xfrm flipH="1">
            <a:off x="5917204" y="2912288"/>
            <a:ext cx="3069778" cy="21312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4AF5D3CC-026F-67A1-69CA-73FA136795BE}"/>
              </a:ext>
            </a:extLst>
          </p:cNvPr>
          <p:cNvCxnSpPr>
            <a:cxnSpLocks/>
          </p:cNvCxnSpPr>
          <p:nvPr/>
        </p:nvCxnSpPr>
        <p:spPr>
          <a:xfrm flipH="1">
            <a:off x="7680475" y="2912288"/>
            <a:ext cx="2013089" cy="21205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E758D415-C2AC-69F9-C65A-F35D727E4BA6}"/>
              </a:ext>
            </a:extLst>
          </p:cNvPr>
          <p:cNvCxnSpPr>
            <a:cxnSpLocks/>
          </p:cNvCxnSpPr>
          <p:nvPr/>
        </p:nvCxnSpPr>
        <p:spPr>
          <a:xfrm flipH="1">
            <a:off x="9019531" y="2901634"/>
            <a:ext cx="1329814" cy="214188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1633B7FC-212A-137A-641D-B4BFA9F0A36F}"/>
              </a:ext>
            </a:extLst>
          </p:cNvPr>
          <p:cNvCxnSpPr>
            <a:cxnSpLocks/>
          </p:cNvCxnSpPr>
          <p:nvPr/>
        </p:nvCxnSpPr>
        <p:spPr>
          <a:xfrm>
            <a:off x="10871421" y="2912288"/>
            <a:ext cx="46072" cy="215229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hteck 65">
            <a:extLst>
              <a:ext uri="{FF2B5EF4-FFF2-40B4-BE49-F238E27FC236}">
                <a16:creationId xmlns:a16="http://schemas.microsoft.com/office/drawing/2014/main" id="{7033AD97-FC78-D9B8-AF95-65C8AAD24A3F}"/>
              </a:ext>
            </a:extLst>
          </p:cNvPr>
          <p:cNvSpPr/>
          <p:nvPr/>
        </p:nvSpPr>
        <p:spPr>
          <a:xfrm>
            <a:off x="1710014" y="5055124"/>
            <a:ext cx="2179920" cy="286501"/>
          </a:xfrm>
          <a:prstGeom prst="rect">
            <a:avLst/>
          </a:prstGeom>
          <a:solidFill>
            <a:srgbClr val="FFFF0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59803A22-A8CB-B78E-3B88-4B4DD5D6C48B}"/>
              </a:ext>
            </a:extLst>
          </p:cNvPr>
          <p:cNvSpPr/>
          <p:nvPr/>
        </p:nvSpPr>
        <p:spPr>
          <a:xfrm>
            <a:off x="7495069" y="2722460"/>
            <a:ext cx="868791" cy="187962"/>
          </a:xfrm>
          <a:prstGeom prst="rect">
            <a:avLst/>
          </a:prstGeom>
          <a:solidFill>
            <a:srgbClr val="FFFF0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F266150B-A175-5798-5050-4E3F5C0D3AF2}"/>
              </a:ext>
            </a:extLst>
          </p:cNvPr>
          <p:cNvSpPr/>
          <p:nvPr/>
        </p:nvSpPr>
        <p:spPr>
          <a:xfrm>
            <a:off x="4233689" y="5035869"/>
            <a:ext cx="1304497" cy="286501"/>
          </a:xfrm>
          <a:prstGeom prst="rect">
            <a:avLst/>
          </a:prstGeom>
          <a:solidFill>
            <a:srgbClr val="0070C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D3CD9437-45E8-6E21-E37F-91D30D3111A4}"/>
              </a:ext>
            </a:extLst>
          </p:cNvPr>
          <p:cNvSpPr/>
          <p:nvPr/>
        </p:nvSpPr>
        <p:spPr>
          <a:xfrm>
            <a:off x="8478353" y="2724326"/>
            <a:ext cx="480921" cy="187962"/>
          </a:xfrm>
          <a:prstGeom prst="rect">
            <a:avLst/>
          </a:prstGeom>
          <a:solidFill>
            <a:srgbClr val="0070C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862AC418-ECC3-D210-EDD4-056BD9D4EF1F}"/>
              </a:ext>
            </a:extLst>
          </p:cNvPr>
          <p:cNvSpPr/>
          <p:nvPr/>
        </p:nvSpPr>
        <p:spPr>
          <a:xfrm>
            <a:off x="8999879" y="2722299"/>
            <a:ext cx="584163" cy="180753"/>
          </a:xfrm>
          <a:prstGeom prst="rect">
            <a:avLst/>
          </a:prstGeom>
          <a:solidFill>
            <a:srgbClr val="00B05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2" name="Rechteck 71">
            <a:extLst>
              <a:ext uri="{FF2B5EF4-FFF2-40B4-BE49-F238E27FC236}">
                <a16:creationId xmlns:a16="http://schemas.microsoft.com/office/drawing/2014/main" id="{C33C31E2-50B9-D54C-3A37-0A1630DD3A5D}"/>
              </a:ext>
            </a:extLst>
          </p:cNvPr>
          <p:cNvSpPr/>
          <p:nvPr/>
        </p:nvSpPr>
        <p:spPr>
          <a:xfrm>
            <a:off x="5693997" y="5032863"/>
            <a:ext cx="1595794" cy="286501"/>
          </a:xfrm>
          <a:prstGeom prst="rect">
            <a:avLst/>
          </a:prstGeom>
          <a:solidFill>
            <a:srgbClr val="00B05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E6B6CE37-E01C-2AF7-A49E-037E3847D291}"/>
              </a:ext>
            </a:extLst>
          </p:cNvPr>
          <p:cNvSpPr/>
          <p:nvPr/>
        </p:nvSpPr>
        <p:spPr>
          <a:xfrm>
            <a:off x="7353195" y="5032862"/>
            <a:ext cx="1329814" cy="308763"/>
          </a:xfrm>
          <a:prstGeom prst="rect">
            <a:avLst/>
          </a:prstGeom>
          <a:solidFill>
            <a:schemeClr val="accent5">
              <a:lumMod val="7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5FA51906-F72B-A7F4-2F85-64EA087D453C}"/>
              </a:ext>
            </a:extLst>
          </p:cNvPr>
          <p:cNvSpPr/>
          <p:nvPr/>
        </p:nvSpPr>
        <p:spPr>
          <a:xfrm>
            <a:off x="9608189" y="2717277"/>
            <a:ext cx="483305" cy="195011"/>
          </a:xfrm>
          <a:prstGeom prst="rect">
            <a:avLst/>
          </a:prstGeom>
          <a:solidFill>
            <a:schemeClr val="accent5">
              <a:lumMod val="7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5" name="Rechteck 74">
            <a:extLst>
              <a:ext uri="{FF2B5EF4-FFF2-40B4-BE49-F238E27FC236}">
                <a16:creationId xmlns:a16="http://schemas.microsoft.com/office/drawing/2014/main" id="{98A5C0D0-520B-55F1-FB22-241B4C510BC9}"/>
              </a:ext>
            </a:extLst>
          </p:cNvPr>
          <p:cNvSpPr/>
          <p:nvPr/>
        </p:nvSpPr>
        <p:spPr>
          <a:xfrm>
            <a:off x="8735102" y="5040914"/>
            <a:ext cx="1198344" cy="308763"/>
          </a:xfrm>
          <a:prstGeom prst="rect">
            <a:avLst/>
          </a:prstGeom>
          <a:solidFill>
            <a:schemeClr val="tx1">
              <a:lumMod val="75000"/>
              <a:lumOff val="2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6BC5F6C8-93B1-8B07-92B2-FCFC1683F3F3}"/>
              </a:ext>
            </a:extLst>
          </p:cNvPr>
          <p:cNvSpPr/>
          <p:nvPr/>
        </p:nvSpPr>
        <p:spPr>
          <a:xfrm>
            <a:off x="10109771" y="2718127"/>
            <a:ext cx="483305" cy="183507"/>
          </a:xfrm>
          <a:prstGeom prst="rect">
            <a:avLst/>
          </a:prstGeom>
          <a:solidFill>
            <a:schemeClr val="tx1">
              <a:lumMod val="75000"/>
              <a:lumOff val="2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A204432A-D197-8F90-8589-3A0AA14499AE}"/>
              </a:ext>
            </a:extLst>
          </p:cNvPr>
          <p:cNvSpPr txBox="1"/>
          <p:nvPr/>
        </p:nvSpPr>
        <p:spPr>
          <a:xfrm>
            <a:off x="8557228" y="5600773"/>
            <a:ext cx="36022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/>
              <a:t>und vieles mehr …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D807C81-ACEB-69C7-9172-82C4C9A1075B}"/>
              </a:ext>
            </a:extLst>
          </p:cNvPr>
          <p:cNvSpPr txBox="1"/>
          <p:nvPr/>
        </p:nvSpPr>
        <p:spPr>
          <a:xfrm>
            <a:off x="9376912" y="241941"/>
            <a:ext cx="2544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>
                <a:solidFill>
                  <a:schemeClr val="bg1"/>
                </a:solidFill>
                <a:highlight>
                  <a:srgbClr val="000080"/>
                </a:highlight>
              </a:rPr>
              <a:t>Machine-Log-Navigator</a:t>
            </a:r>
          </a:p>
        </p:txBody>
      </p:sp>
    </p:spTree>
    <p:extLst>
      <p:ext uri="{BB962C8B-B14F-4D97-AF65-F5344CB8AC3E}">
        <p14:creationId xmlns:p14="http://schemas.microsoft.com/office/powerpoint/2010/main" val="2897287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>
            <a:extLst>
              <a:ext uri="{FF2B5EF4-FFF2-40B4-BE49-F238E27FC236}">
                <a16:creationId xmlns:a16="http://schemas.microsoft.com/office/drawing/2014/main" id="{D45C41D8-6AC7-BBCD-7C37-953E44238EEB}"/>
              </a:ext>
            </a:extLst>
          </p:cNvPr>
          <p:cNvSpPr txBox="1">
            <a:spLocks/>
          </p:cNvSpPr>
          <p:nvPr/>
        </p:nvSpPr>
        <p:spPr>
          <a:xfrm>
            <a:off x="749343" y="426607"/>
            <a:ext cx="3951965" cy="8282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sz="4800" b="1" u="sng" dirty="0"/>
              <a:t>Projekt-Ziel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8F5A2E4-2576-3FC1-B559-62A766EEE8C6}"/>
              </a:ext>
            </a:extLst>
          </p:cNvPr>
          <p:cNvSpPr txBox="1"/>
          <p:nvPr/>
        </p:nvSpPr>
        <p:spPr>
          <a:xfrm>
            <a:off x="1391662" y="3203763"/>
            <a:ext cx="102115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dirty="0">
                <a:highlight>
                  <a:srgbClr val="00FF00"/>
                </a:highlight>
              </a:rPr>
              <a:t>Idee: </a:t>
            </a:r>
            <a:r>
              <a:rPr lang="de-DE" sz="1600" dirty="0"/>
              <a:t>    </a:t>
            </a:r>
            <a:r>
              <a:rPr lang="de-DE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Bereitstellung</a:t>
            </a:r>
            <a:r>
              <a:rPr lang="de-DE" sz="1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de-DE" sz="1600" b="1" u="sng" dirty="0">
                <a:solidFill>
                  <a:schemeClr val="accent6">
                    <a:lumMod val="75000"/>
                  </a:schemeClr>
                </a:solidFill>
              </a:rPr>
              <a:t>Web-Portal</a:t>
            </a:r>
            <a:r>
              <a:rPr lang="de-DE" sz="1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de-DE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/ </a:t>
            </a:r>
            <a:r>
              <a:rPr lang="de-DE" sz="1600" b="1" dirty="0">
                <a:solidFill>
                  <a:schemeClr val="accent6">
                    <a:lumMod val="75000"/>
                  </a:schemeClr>
                </a:solidFill>
              </a:rPr>
              <a:t>Dashboard</a:t>
            </a:r>
            <a:r>
              <a:rPr lang="de-DE" sz="1600" b="1" dirty="0">
                <a:solidFill>
                  <a:srgbClr val="00B050"/>
                </a:solidFill>
              </a:rPr>
              <a:t> </a:t>
            </a:r>
            <a:r>
              <a:rPr lang="de-DE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zur Transparenzmachung des Packlinien-Prozess aus den Logdaten</a:t>
            </a:r>
            <a:endParaRPr lang="de-DE" sz="16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11ED468-B292-4A5A-1FEA-AAAE999C522E}"/>
              </a:ext>
            </a:extLst>
          </p:cNvPr>
          <p:cNvSpPr txBox="1"/>
          <p:nvPr/>
        </p:nvSpPr>
        <p:spPr>
          <a:xfrm>
            <a:off x="9376912" y="241941"/>
            <a:ext cx="2544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>
                <a:solidFill>
                  <a:schemeClr val="bg1"/>
                </a:solidFill>
                <a:highlight>
                  <a:srgbClr val="000080"/>
                </a:highlight>
              </a:rPr>
              <a:t>Machine-Log-Navigator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03FE7FA-0681-C401-9B81-0D3684DB0A03}"/>
              </a:ext>
            </a:extLst>
          </p:cNvPr>
          <p:cNvSpPr txBox="1"/>
          <p:nvPr/>
        </p:nvSpPr>
        <p:spPr>
          <a:xfrm>
            <a:off x="1391662" y="1606249"/>
            <a:ext cx="81652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800" b="1" dirty="0"/>
              <a:t>1. Problem-Identifizierung in den Logdaten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17E8F79-73BA-909B-CF22-A917022F3C87}"/>
              </a:ext>
            </a:extLst>
          </p:cNvPr>
          <p:cNvSpPr txBox="1"/>
          <p:nvPr/>
        </p:nvSpPr>
        <p:spPr>
          <a:xfrm>
            <a:off x="1391662" y="4369866"/>
            <a:ext cx="94840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>
              <a:defRPr sz="2800" b="1"/>
            </a:lvl1pPr>
          </a:lstStyle>
          <a:p>
            <a:r>
              <a:rPr lang="de-DE" dirty="0"/>
              <a:t>2. Produktivitätssteigerung mit </a:t>
            </a:r>
            <a:r>
              <a:rPr lang="de-DE" dirty="0" err="1"/>
              <a:t>Machine</a:t>
            </a:r>
            <a:r>
              <a:rPr lang="de-DE" dirty="0"/>
              <a:t>-Learning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CF0FA2E-35A6-486F-BB8B-AD3387779408}"/>
              </a:ext>
            </a:extLst>
          </p:cNvPr>
          <p:cNvSpPr txBox="1"/>
          <p:nvPr/>
        </p:nvSpPr>
        <p:spPr>
          <a:xfrm>
            <a:off x="2623126" y="2161544"/>
            <a:ext cx="4156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- Auffälligkeiten zu Paketgewichten 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3091479-294D-8F7B-C99B-BD077D8F8B7C}"/>
              </a:ext>
            </a:extLst>
          </p:cNvPr>
          <p:cNvSpPr txBox="1"/>
          <p:nvPr/>
        </p:nvSpPr>
        <p:spPr>
          <a:xfrm>
            <a:off x="2623126" y="2487464"/>
            <a:ext cx="4156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- Auffälligkeiten zu Förderbandverhalten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62C2FAE-EE82-B990-8533-40744F8B8DB8}"/>
              </a:ext>
            </a:extLst>
          </p:cNvPr>
          <p:cNvSpPr txBox="1"/>
          <p:nvPr/>
        </p:nvSpPr>
        <p:spPr>
          <a:xfrm>
            <a:off x="2623125" y="2813384"/>
            <a:ext cx="4978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- Auffälligkeiten zu Packmitarbeiterverhalten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925F4656-72EF-9784-1689-CC44ED579680}"/>
              </a:ext>
            </a:extLst>
          </p:cNvPr>
          <p:cNvSpPr txBox="1"/>
          <p:nvPr/>
        </p:nvSpPr>
        <p:spPr>
          <a:xfrm>
            <a:off x="2623123" y="4962691"/>
            <a:ext cx="8264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- Reduzierung der fixen Stichprobengröße zur manuellen Paket-Inhaltsprüfung (QA)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53D7D112-C101-7D04-EA3D-A73C884A0D51}"/>
              </a:ext>
            </a:extLst>
          </p:cNvPr>
          <p:cNvSpPr txBox="1"/>
          <p:nvPr/>
        </p:nvSpPr>
        <p:spPr>
          <a:xfrm>
            <a:off x="1391662" y="5383365"/>
            <a:ext cx="102115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dirty="0">
                <a:highlight>
                  <a:srgbClr val="00FF00"/>
                </a:highlight>
              </a:rPr>
              <a:t>Idee: </a:t>
            </a:r>
            <a:r>
              <a:rPr lang="de-DE" sz="1600" dirty="0"/>
              <a:t>    </a:t>
            </a:r>
            <a:r>
              <a:rPr lang="de-DE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Entwicklung ML-Modells zum </a:t>
            </a:r>
            <a:r>
              <a:rPr lang="de-DE" sz="1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autom</a:t>
            </a:r>
            <a:r>
              <a:rPr lang="de-DE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. Erkennen von Paket-Inhaltsproblemen (fehlende- zu viele Artikel) </a:t>
            </a:r>
            <a:endParaRPr lang="de-DE" sz="16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FA499FC-1CD4-8F4C-7562-BA5643957E99}"/>
              </a:ext>
            </a:extLst>
          </p:cNvPr>
          <p:cNvSpPr txBox="1"/>
          <p:nvPr/>
        </p:nvSpPr>
        <p:spPr>
          <a:xfrm>
            <a:off x="1373190" y="3519020"/>
            <a:ext cx="95613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i="1" dirty="0"/>
              <a:t>Grundprozess</a:t>
            </a:r>
            <a:r>
              <a:rPr lang="de-DE" sz="1000" i="1" dirty="0"/>
              <a:t> → 1 x tägl. Logdaten in Portal laden → Dashboards prüfen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F093F5E7-8DCC-89E8-9E48-A9BC4DEC41E6}"/>
              </a:ext>
            </a:extLst>
          </p:cNvPr>
          <p:cNvSpPr txBox="1"/>
          <p:nvPr/>
        </p:nvSpPr>
        <p:spPr>
          <a:xfrm>
            <a:off x="5963841" y="3739543"/>
            <a:ext cx="58586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i="1" dirty="0"/>
              <a:t>für  späteren fortgeschrittenen Prozess </a:t>
            </a:r>
            <a:r>
              <a:rPr lang="de-DE" sz="1000" b="1" i="1" dirty="0"/>
              <a:t>Controlling  </a:t>
            </a:r>
            <a:r>
              <a:rPr lang="de-DE" sz="1000" i="1" dirty="0"/>
              <a:t>über stündlich rollierende automatische Uploads </a:t>
            </a: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E8E5A000-9314-5592-3B1A-7784ABF6C27F}"/>
              </a:ext>
            </a:extLst>
          </p:cNvPr>
          <p:cNvCxnSpPr>
            <a:cxnSpLocks/>
          </p:cNvCxnSpPr>
          <p:nvPr/>
        </p:nvCxnSpPr>
        <p:spPr>
          <a:xfrm>
            <a:off x="5689604" y="3857557"/>
            <a:ext cx="31403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E7BFBACA-0C83-6170-9D1A-75A57200FE70}"/>
              </a:ext>
            </a:extLst>
          </p:cNvPr>
          <p:cNvCxnSpPr>
            <a:cxnSpLocks/>
          </p:cNvCxnSpPr>
          <p:nvPr/>
        </p:nvCxnSpPr>
        <p:spPr>
          <a:xfrm>
            <a:off x="5394039" y="3634677"/>
            <a:ext cx="29556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9079D010-5907-3E29-599D-D46B4472A607}"/>
              </a:ext>
            </a:extLst>
          </p:cNvPr>
          <p:cNvCxnSpPr>
            <a:cxnSpLocks/>
          </p:cNvCxnSpPr>
          <p:nvPr/>
        </p:nvCxnSpPr>
        <p:spPr>
          <a:xfrm>
            <a:off x="5689604" y="3634677"/>
            <a:ext cx="0" cy="22288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feld 30">
            <a:extLst>
              <a:ext uri="{FF2B5EF4-FFF2-40B4-BE49-F238E27FC236}">
                <a16:creationId xmlns:a16="http://schemas.microsoft.com/office/drawing/2014/main" id="{82A94E4E-B67B-D9F8-E594-A0A1E742092F}"/>
              </a:ext>
            </a:extLst>
          </p:cNvPr>
          <p:cNvSpPr txBox="1"/>
          <p:nvPr/>
        </p:nvSpPr>
        <p:spPr>
          <a:xfrm>
            <a:off x="1382426" y="5680719"/>
            <a:ext cx="95613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i="1" dirty="0"/>
              <a:t>Grundprozess</a:t>
            </a:r>
            <a:r>
              <a:rPr lang="de-DE" sz="1000" i="1" dirty="0"/>
              <a:t> → 1 x tägl. ML-Datendurchlauf → Maschine konfigurieren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9C66C218-1945-A145-3EFE-DD0FF27AC7B7}"/>
              </a:ext>
            </a:extLst>
          </p:cNvPr>
          <p:cNvSpPr txBox="1"/>
          <p:nvPr/>
        </p:nvSpPr>
        <p:spPr>
          <a:xfrm>
            <a:off x="5973077" y="5901242"/>
            <a:ext cx="58586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i="1" dirty="0"/>
              <a:t>für  späteren fortgeschrittenen Prozess </a:t>
            </a:r>
            <a:r>
              <a:rPr lang="de-DE" sz="1000" b="1" i="1" dirty="0"/>
              <a:t>voll automatische Maschinenkonfiguration</a:t>
            </a:r>
            <a:endParaRPr lang="de-DE" sz="1000" i="1" dirty="0"/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3A22AF7B-8D31-C7E6-4085-3C4C7A1CD615}"/>
              </a:ext>
            </a:extLst>
          </p:cNvPr>
          <p:cNvCxnSpPr>
            <a:cxnSpLocks/>
          </p:cNvCxnSpPr>
          <p:nvPr/>
        </p:nvCxnSpPr>
        <p:spPr>
          <a:xfrm>
            <a:off x="5698840" y="6019256"/>
            <a:ext cx="31403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36474C76-0DCF-A747-EDE4-FA5DA208079A}"/>
              </a:ext>
            </a:extLst>
          </p:cNvPr>
          <p:cNvCxnSpPr>
            <a:cxnSpLocks/>
          </p:cNvCxnSpPr>
          <p:nvPr/>
        </p:nvCxnSpPr>
        <p:spPr>
          <a:xfrm>
            <a:off x="5403275" y="5796376"/>
            <a:ext cx="29556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5AC0B27A-3224-70A6-0F82-37C995685901}"/>
              </a:ext>
            </a:extLst>
          </p:cNvPr>
          <p:cNvCxnSpPr>
            <a:cxnSpLocks/>
          </p:cNvCxnSpPr>
          <p:nvPr/>
        </p:nvCxnSpPr>
        <p:spPr>
          <a:xfrm>
            <a:off x="5698840" y="5796376"/>
            <a:ext cx="0" cy="22288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0528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</Words>
  <Application>Microsoft Office PowerPoint</Application>
  <PresentationFormat>Breitbild</PresentationFormat>
  <Paragraphs>72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Wingdings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Projekt-Basis        Insight Log-Data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Michaelis</dc:creator>
  <cp:lastModifiedBy>Marco Michaelis</cp:lastModifiedBy>
  <cp:revision>169</cp:revision>
  <dcterms:created xsi:type="dcterms:W3CDTF">2026-03-02T05:44:05Z</dcterms:created>
  <dcterms:modified xsi:type="dcterms:W3CDTF">2026-04-06T08:58:36Z</dcterms:modified>
</cp:coreProperties>
</file>