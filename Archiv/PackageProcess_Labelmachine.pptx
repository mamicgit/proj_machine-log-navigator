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2" r:id="rId3"/>
    <p:sldId id="258" r:id="rId4"/>
    <p:sldId id="261" r:id="rId5"/>
    <p:sldId id="257" r:id="rId6"/>
    <p:sldId id="263" r:id="rId7"/>
    <p:sldId id="264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28201E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39915-3FD1-4353-89A4-B2EBCDE59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917496-4F7F-43A6-EAFB-F146E0B20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271F0A-FE1D-4E13-0BCF-F10A9ACD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BF892C-1FBC-0D28-5004-545C091D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4B331D-5ACF-2B45-99C0-69FCE13C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01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94E63B-B72D-B545-DD40-897F4B44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C1FEFB-3DD0-31B1-A133-D5067282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C01F79-21BC-4EFA-9B35-46A5DD999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387393-F257-11E9-8DBE-ABE6E2EB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1886FE-46A1-C011-D62E-076F296D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138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CA7D93-32A2-F4E7-17CF-535CBA2C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1061A8-8865-ED8D-4F6D-47E132E41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B5CF9F-47E0-E44E-30EC-D5F3B1A1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BC8205-1044-9765-CDF0-546447E0E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3EE353-2179-62FB-B3A0-F0161385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0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B49E2D-C855-09C1-2B16-51425AF8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E03223-410B-7E81-280C-F13AA86EA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6F73A9-C7FF-492E-6553-CD219745F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E6B3BA-246C-FFCB-CCBF-1CBBF7DB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A68AB5-F3D6-8544-596C-376B8B10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201D69-A8FB-097F-499D-EC6C2C48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32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996BB-F7CA-108B-5F39-D5A92998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E93CE2-E899-C0F0-9C2C-E8EF59165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C8DDFD-E01A-F4FF-0A9F-62885D7C8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0E07E6-3F98-A8CC-0C13-AF73F7CA8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3C81C2-6480-5D77-5260-1CF4A0A44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D3A5D4-8A20-F442-40B0-63FE1A52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4F6ECD-2318-944A-3174-801C243F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35F21F8-E74B-4C15-E5C4-A5BAE59F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81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51CCA7-ADEA-9D49-923B-2DE015363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E90FFA-33FC-65AE-CA57-DE211E6E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AAEC79-347A-B252-0893-E977677A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A71F92-5E8B-65F1-D587-D2BBE03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58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982A473-17AC-7FBA-DBCA-DA9CF878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17A183-AF26-B8E5-7006-25E9BC62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585372-C4AF-62D1-B723-3C30F0D6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36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5CEB8C-8F30-7E2C-FF4D-01749026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F526C7-9E88-0A66-8CE5-95F0151E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3BB31D-1189-CC93-A9BF-7AF357052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AACB00-3B52-3FDF-039D-AFF7F310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5315A3-7775-CE03-39EB-09C54FA7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B5D43D-7713-8584-2A3A-36659C7B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421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FD8A70-680C-DF95-BD43-2AC19D60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F3F389-5136-1F2E-DFD1-19264B42E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F7D270-226F-A713-AA6F-E5A540520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FF5DAB-AE90-67CF-45E5-BAAC309D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E74C94-71B1-C69A-24D8-CDC7CC67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3B6898-C8E7-1E22-9298-C8B09449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324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80DE0-7A8B-37FC-7F48-A57BE3EA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8F6A66-B5B3-0DC5-53B7-D2018CF77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F09CFA-7F4C-3928-11DF-438464C9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8E3CBA-90B8-62B9-B2B3-6CCF742F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52C08F-DCB1-02D3-F03B-42B9EC34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26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546E3F-CB8C-71A3-DC1E-91C44D637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2E2000-38CE-7E3F-3177-F9474FBEB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2FFB55-8814-36CF-EA3A-44AB8149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D8CC73-5F53-B0BE-9161-A6181F1F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AFEBD1-AB1B-87DB-9B54-BF08A4AD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39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9E5CACB-B026-99C2-A7CE-78636205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9E3BF3-8522-1B23-66DD-BD08E945E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9BE5BB-2767-BCDD-B81F-A7F530B77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64887-1312-4A4A-8E43-383F23D240A8}" type="datetimeFigureOut">
              <a:rPr lang="de-DE" smtClean="0"/>
              <a:t>05. Mrz.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DA965B-17B7-1871-1878-34821FBBF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D283CC-DEA5-185C-9E41-3A1EF4574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633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7CA28B9-E4FC-5EA9-BA7B-58476E87FC99}"/>
              </a:ext>
            </a:extLst>
          </p:cNvPr>
          <p:cNvSpPr txBox="1"/>
          <p:nvPr/>
        </p:nvSpPr>
        <p:spPr>
          <a:xfrm>
            <a:off x="759123" y="656009"/>
            <a:ext cx="4882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Abschlussprojekt :</a:t>
            </a:r>
            <a:r>
              <a:rPr lang="de-DE" dirty="0" err="1">
                <a:solidFill>
                  <a:schemeClr val="bg1"/>
                </a:solidFill>
                <a:highlight>
                  <a:srgbClr val="000080"/>
                </a:highlight>
              </a:rPr>
              <a:t>Machine</a:t>
            </a:r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-Log-Navigator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45C41D8-6AC7-BBCD-7C37-953E44238EEB}"/>
              </a:ext>
            </a:extLst>
          </p:cNvPr>
          <p:cNvSpPr txBox="1">
            <a:spLocks/>
          </p:cNvSpPr>
          <p:nvPr/>
        </p:nvSpPr>
        <p:spPr>
          <a:xfrm>
            <a:off x="1166722" y="1518251"/>
            <a:ext cx="2887200" cy="8282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3600" b="1" u="sng" dirty="0"/>
              <a:t>Projekt-Ziel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8F5A2E4-2576-3FC1-B559-62A766EEE8C6}"/>
              </a:ext>
            </a:extLst>
          </p:cNvPr>
          <p:cNvSpPr txBox="1"/>
          <p:nvPr/>
        </p:nvSpPr>
        <p:spPr>
          <a:xfrm>
            <a:off x="1321998" y="2944252"/>
            <a:ext cx="10211519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Ein</a:t>
            </a:r>
            <a:r>
              <a:rPr lang="de-DE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1600" b="1" u="sng" dirty="0">
                <a:solidFill>
                  <a:schemeClr val="accent6">
                    <a:lumMod val="75000"/>
                  </a:schemeClr>
                </a:solidFill>
              </a:rPr>
              <a:t>Web-Portal</a:t>
            </a:r>
            <a:r>
              <a:rPr lang="de-DE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für</a:t>
            </a:r>
            <a:r>
              <a:rPr lang="de-DE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1600" b="1" dirty="0">
                <a:solidFill>
                  <a:schemeClr val="accent6">
                    <a:lumMod val="75000"/>
                  </a:schemeClr>
                </a:solidFill>
              </a:rPr>
              <a:t>Logdaten-Uploads</a:t>
            </a:r>
            <a:r>
              <a:rPr lang="de-DE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+ </a:t>
            </a:r>
            <a:r>
              <a:rPr lang="de-DE" sz="1600" b="1" dirty="0">
                <a:solidFill>
                  <a:schemeClr val="accent6">
                    <a:lumMod val="75000"/>
                  </a:schemeClr>
                </a:solidFill>
              </a:rPr>
              <a:t>Dashboard</a:t>
            </a:r>
            <a:r>
              <a:rPr lang="de-DE" sz="1600" b="1" dirty="0">
                <a:solidFill>
                  <a:srgbClr val="00B050"/>
                </a:solidFill>
              </a:rPr>
              <a:t> </a:t>
            </a:r>
            <a:r>
              <a:rPr lang="de-D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einer</a:t>
            </a:r>
            <a:r>
              <a:rPr lang="de-DE" sz="1600" b="1" dirty="0">
                <a:solidFill>
                  <a:srgbClr val="00B050"/>
                </a:solidFill>
              </a:rPr>
              <a:t> </a:t>
            </a:r>
            <a:r>
              <a:rPr lang="de-DE" sz="1600" b="1" dirty="0">
                <a:solidFill>
                  <a:schemeClr val="accent6">
                    <a:lumMod val="75000"/>
                  </a:schemeClr>
                </a:solidFill>
              </a:rPr>
              <a:t>Paket-Label-Maschine </a:t>
            </a:r>
            <a:r>
              <a:rPr lang="de-D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aus der </a:t>
            </a:r>
            <a:r>
              <a:rPr lang="de-DE" sz="1600" b="1" dirty="0">
                <a:solidFill>
                  <a:schemeClr val="accent6">
                    <a:lumMod val="75000"/>
                  </a:schemeClr>
                </a:solidFill>
              </a:rPr>
              <a:t>Logistik</a:t>
            </a:r>
          </a:p>
          <a:p>
            <a:endParaRPr lang="de-DE" sz="5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de-DE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1) Anzeigen von </a:t>
            </a:r>
            <a:r>
              <a:rPr lang="de-DE" sz="1200" b="1" dirty="0"/>
              <a:t>Statistiken</a:t>
            </a:r>
            <a:r>
              <a:rPr lang="de-DE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und </a:t>
            </a:r>
            <a:r>
              <a:rPr lang="de-DE" sz="1200" b="1" dirty="0"/>
              <a:t>Auffälligkeiten</a:t>
            </a:r>
            <a:r>
              <a:rPr lang="de-DE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aus dem log-upload zum Verhalten von Versand-Label-Maschinen  </a:t>
            </a:r>
            <a:r>
              <a:rPr lang="de-DE" sz="1200" b="1" dirty="0"/>
              <a:t>(Maschinenbau → Logistik)</a:t>
            </a:r>
          </a:p>
          <a:p>
            <a:r>
              <a:rPr lang="de-DE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2) Bereitstellen normalisierter Daten zum Download zur </a:t>
            </a:r>
            <a:r>
              <a:rPr lang="de-DE" sz="1200" b="1" dirty="0"/>
              <a:t>Daten-Transparenz</a:t>
            </a:r>
            <a:r>
              <a:rPr lang="de-DE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zur Nachvollziehbarkeit für Softwareentwickler &amp; Produktionsleiter</a:t>
            </a:r>
          </a:p>
          <a:p>
            <a:r>
              <a:rPr lang="de-DE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3) </a:t>
            </a:r>
            <a:r>
              <a:rPr lang="de-DE" sz="1200" b="1" dirty="0"/>
              <a:t>Algorithmus</a:t>
            </a:r>
            <a:r>
              <a:rPr lang="de-DE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entwickeln/bereitstellen zur Performance-Optimierung der Maschine zwecks Steigerung der QA-Produktivität (Kosteneinsparung)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916F535-508F-940F-8F39-451F1915FFA3}"/>
              </a:ext>
            </a:extLst>
          </p:cNvPr>
          <p:cNvSpPr txBox="1"/>
          <p:nvPr/>
        </p:nvSpPr>
        <p:spPr>
          <a:xfrm>
            <a:off x="5270740" y="6411218"/>
            <a:ext cx="67544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100" b="1" i="1" dirty="0"/>
              <a:t>DSI - Abschlußprojekt Team:   </a:t>
            </a:r>
            <a:r>
              <a:rPr lang="de-DE" sz="1100" i="1" dirty="0"/>
              <a:t>Michael Schipper, Mohamad Esber, Marco Michaelis | Date: May 2026</a:t>
            </a:r>
          </a:p>
        </p:txBody>
      </p:sp>
    </p:spTree>
    <p:extLst>
      <p:ext uri="{BB962C8B-B14F-4D97-AF65-F5344CB8AC3E}">
        <p14:creationId xmlns:p14="http://schemas.microsoft.com/office/powerpoint/2010/main" val="47052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1C63E44-5953-D8FC-961E-EF6989BA0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05" y="1186259"/>
            <a:ext cx="7692179" cy="5131415"/>
          </a:xfrm>
          <a:prstGeom prst="rect">
            <a:avLst/>
          </a:prstGeom>
        </p:spPr>
      </p:pic>
      <p:sp>
        <p:nvSpPr>
          <p:cNvPr id="7" name="Pfeil: gestreift nach rechts 6">
            <a:extLst>
              <a:ext uri="{FF2B5EF4-FFF2-40B4-BE49-F238E27FC236}">
                <a16:creationId xmlns:a16="http://schemas.microsoft.com/office/drawing/2014/main" id="{5C0EED9F-B41C-DDFF-D389-17FF62A130FC}"/>
              </a:ext>
            </a:extLst>
          </p:cNvPr>
          <p:cNvSpPr/>
          <p:nvPr/>
        </p:nvSpPr>
        <p:spPr>
          <a:xfrm rot="17936506">
            <a:off x="2423120" y="2880661"/>
            <a:ext cx="2986510" cy="688109"/>
          </a:xfrm>
          <a:prstGeom prst="stripedRightArrow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ym typeface="Wingdings" panose="05000000000000000000" pitchFamily="2" charset="2"/>
              </a:rPr>
              <a:t>  </a:t>
            </a:r>
            <a:r>
              <a:rPr lang="de-DE" dirty="0"/>
              <a:t>Laufrichtung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730AB657-91F1-8371-8503-6C930BD54561}"/>
              </a:ext>
            </a:extLst>
          </p:cNvPr>
          <p:cNvCxnSpPr>
            <a:cxnSpLocks/>
          </p:cNvCxnSpPr>
          <p:nvPr/>
        </p:nvCxnSpPr>
        <p:spPr>
          <a:xfrm flipH="1" flipV="1">
            <a:off x="6313000" y="1884218"/>
            <a:ext cx="2720164" cy="674255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92B1C0A0-136E-30AD-86E5-DECB4B11805A}"/>
              </a:ext>
            </a:extLst>
          </p:cNvPr>
          <p:cNvSpPr txBox="1"/>
          <p:nvPr/>
        </p:nvSpPr>
        <p:spPr>
          <a:xfrm>
            <a:off x="9014376" y="2532595"/>
            <a:ext cx="173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Workstations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8E7FB33-B4A8-4986-A88A-FCB689430907}"/>
              </a:ext>
            </a:extLst>
          </p:cNvPr>
          <p:cNvCxnSpPr>
            <a:cxnSpLocks/>
          </p:cNvCxnSpPr>
          <p:nvPr/>
        </p:nvCxnSpPr>
        <p:spPr>
          <a:xfrm flipH="1" flipV="1">
            <a:off x="6539345" y="2221345"/>
            <a:ext cx="2493819" cy="429491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5B38E49-B6C3-5234-6704-3B4913109E0A}"/>
              </a:ext>
            </a:extLst>
          </p:cNvPr>
          <p:cNvCxnSpPr>
            <a:cxnSpLocks/>
          </p:cNvCxnSpPr>
          <p:nvPr/>
        </p:nvCxnSpPr>
        <p:spPr>
          <a:xfrm flipH="1" flipV="1">
            <a:off x="7093527" y="2558473"/>
            <a:ext cx="1939637" cy="221672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FBDFEBD-1226-F2B0-EA12-738E71827CEE}"/>
              </a:ext>
            </a:extLst>
          </p:cNvPr>
          <p:cNvCxnSpPr>
            <a:cxnSpLocks/>
          </p:cNvCxnSpPr>
          <p:nvPr/>
        </p:nvCxnSpPr>
        <p:spPr>
          <a:xfrm flipH="1">
            <a:off x="7767782" y="2858656"/>
            <a:ext cx="1260599" cy="856366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07710FEE-88B4-4333-6207-7A4643F94DEE}"/>
              </a:ext>
            </a:extLst>
          </p:cNvPr>
          <p:cNvSpPr txBox="1"/>
          <p:nvPr/>
        </p:nvSpPr>
        <p:spPr>
          <a:xfrm>
            <a:off x="775854" y="318886"/>
            <a:ext cx="6991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Übersicht Verpackungslinie (Packline)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7CA28B9-E4FC-5EA9-BA7B-58476E87FC99}"/>
              </a:ext>
            </a:extLst>
          </p:cNvPr>
          <p:cNvSpPr txBox="1"/>
          <p:nvPr/>
        </p:nvSpPr>
        <p:spPr>
          <a:xfrm>
            <a:off x="9376912" y="241941"/>
            <a:ext cx="254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Machine-Log-Navigator</a:t>
            </a:r>
          </a:p>
        </p:txBody>
      </p:sp>
    </p:spTree>
    <p:extLst>
      <p:ext uri="{BB962C8B-B14F-4D97-AF65-F5344CB8AC3E}">
        <p14:creationId xmlns:p14="http://schemas.microsoft.com/office/powerpoint/2010/main" val="424371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64354A3-F30D-6D31-5B80-1C77C499A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93" y="1127514"/>
            <a:ext cx="6166883" cy="5304931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7546A80-CCB2-F59D-936E-C78EFDF9F3DE}"/>
              </a:ext>
            </a:extLst>
          </p:cNvPr>
          <p:cNvCxnSpPr/>
          <p:nvPr/>
        </p:nvCxnSpPr>
        <p:spPr>
          <a:xfrm flipH="1" flipV="1">
            <a:off x="3769243" y="2096653"/>
            <a:ext cx="3869230" cy="83127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C1EE129-93CD-E5BC-6160-04CCAFF97DCE}"/>
              </a:ext>
            </a:extLst>
          </p:cNvPr>
          <p:cNvSpPr txBox="1"/>
          <p:nvPr/>
        </p:nvSpPr>
        <p:spPr>
          <a:xfrm>
            <a:off x="7599217" y="1995114"/>
            <a:ext cx="266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Kunden-Bestellbarcode</a:t>
            </a: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DD07494-B574-58D9-3F54-D1DE94135DBB}"/>
              </a:ext>
            </a:extLst>
          </p:cNvPr>
          <p:cNvCxnSpPr/>
          <p:nvPr/>
        </p:nvCxnSpPr>
        <p:spPr>
          <a:xfrm flipH="1" flipV="1">
            <a:off x="3921643" y="4087089"/>
            <a:ext cx="3869230" cy="83127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5A5229D4-CEEC-C6C5-BC3E-3B6A9A5026C7}"/>
              </a:ext>
            </a:extLst>
          </p:cNvPr>
          <p:cNvSpPr txBox="1"/>
          <p:nvPr/>
        </p:nvSpPr>
        <p:spPr>
          <a:xfrm>
            <a:off x="7726221" y="3985550"/>
            <a:ext cx="266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Boxbarcode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44227DD-ECFA-969F-B79C-E8A29D5BAA5F}"/>
              </a:ext>
            </a:extLst>
          </p:cNvPr>
          <p:cNvSpPr txBox="1"/>
          <p:nvPr/>
        </p:nvSpPr>
        <p:spPr>
          <a:xfrm>
            <a:off x="6998858" y="6030105"/>
            <a:ext cx="34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Paket läuft zur Label-Maschine</a:t>
            </a:r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389C4549-1355-5FF9-F5C7-20D317E63D21}"/>
              </a:ext>
            </a:extLst>
          </p:cNvPr>
          <p:cNvSpPr/>
          <p:nvPr/>
        </p:nvSpPr>
        <p:spPr>
          <a:xfrm>
            <a:off x="10386294" y="6030105"/>
            <a:ext cx="570345" cy="402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03BF5DF-4BE3-25F7-3C13-44828FEC3CCA}"/>
              </a:ext>
            </a:extLst>
          </p:cNvPr>
          <p:cNvSpPr txBox="1"/>
          <p:nvPr/>
        </p:nvSpPr>
        <p:spPr>
          <a:xfrm>
            <a:off x="556493" y="350557"/>
            <a:ext cx="4567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Mitarbeiter (Workstation)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22334A7-06CC-C3D6-DB63-B01303423293}"/>
              </a:ext>
            </a:extLst>
          </p:cNvPr>
          <p:cNvSpPr txBox="1"/>
          <p:nvPr/>
        </p:nvSpPr>
        <p:spPr>
          <a:xfrm>
            <a:off x="5016915" y="422432"/>
            <a:ext cx="3035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Kundenbestellung verpacken</a:t>
            </a:r>
          </a:p>
          <a:p>
            <a:r>
              <a:rPr lang="de-DE" sz="1200" dirty="0"/>
              <a:t>Bestell-Barcode aufkleben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1A26954-8CAB-FB89-5F2E-DA5640F12172}"/>
              </a:ext>
            </a:extLst>
          </p:cNvPr>
          <p:cNvSpPr/>
          <p:nvPr/>
        </p:nvSpPr>
        <p:spPr>
          <a:xfrm rot="2427125">
            <a:off x="2380907" y="3037014"/>
            <a:ext cx="501857" cy="302251"/>
          </a:xfrm>
          <a:prstGeom prst="rect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120EC2F-9554-17B8-9243-4CD5B2F9C1BA}"/>
              </a:ext>
            </a:extLst>
          </p:cNvPr>
          <p:cNvCxnSpPr>
            <a:cxnSpLocks/>
          </p:cNvCxnSpPr>
          <p:nvPr/>
        </p:nvCxnSpPr>
        <p:spPr>
          <a:xfrm flipH="1">
            <a:off x="2613891" y="2533270"/>
            <a:ext cx="794327" cy="615649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75B68CFD-AAEE-E951-C47A-0AE1F387903C}"/>
              </a:ext>
            </a:extLst>
          </p:cNvPr>
          <p:cNvSpPr txBox="1"/>
          <p:nvPr/>
        </p:nvSpPr>
        <p:spPr>
          <a:xfrm>
            <a:off x="9376912" y="241941"/>
            <a:ext cx="254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Machine-Log-Navigator</a:t>
            </a:r>
          </a:p>
        </p:txBody>
      </p:sp>
    </p:spTree>
    <p:extLst>
      <p:ext uri="{BB962C8B-B14F-4D97-AF65-F5344CB8AC3E}">
        <p14:creationId xmlns:p14="http://schemas.microsoft.com/office/powerpoint/2010/main" val="334455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feld 31">
            <a:extLst>
              <a:ext uri="{FF2B5EF4-FFF2-40B4-BE49-F238E27FC236}">
                <a16:creationId xmlns:a16="http://schemas.microsoft.com/office/drawing/2014/main" id="{53C9237C-E628-E692-B363-223E9F868DFD}"/>
              </a:ext>
            </a:extLst>
          </p:cNvPr>
          <p:cNvSpPr txBox="1"/>
          <p:nvPr/>
        </p:nvSpPr>
        <p:spPr>
          <a:xfrm>
            <a:off x="8323707" y="4622748"/>
            <a:ext cx="3589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Kunden-Adresslabel-</a:t>
            </a:r>
            <a:r>
              <a:rPr lang="de-DE" sz="1600" dirty="0" err="1"/>
              <a:t>Stickervorgang</a:t>
            </a:r>
            <a:endParaRPr lang="de-DE" sz="16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4F64F6A-8696-4090-4FD8-91B3B13CE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486435"/>
            <a:ext cx="7250122" cy="4856802"/>
          </a:xfrm>
          <a:prstGeom prst="rect">
            <a:avLst/>
          </a:prstGeom>
        </p:spPr>
      </p:pic>
      <p:sp>
        <p:nvSpPr>
          <p:cNvPr id="5" name="Pfeil: gestreift nach rechts 4">
            <a:extLst>
              <a:ext uri="{FF2B5EF4-FFF2-40B4-BE49-F238E27FC236}">
                <a16:creationId xmlns:a16="http://schemas.microsoft.com/office/drawing/2014/main" id="{C043DFB5-76FB-393A-58DF-F9D8760F18A6}"/>
              </a:ext>
            </a:extLst>
          </p:cNvPr>
          <p:cNvSpPr/>
          <p:nvPr/>
        </p:nvSpPr>
        <p:spPr>
          <a:xfrm rot="19627890" flipH="1">
            <a:off x="4400940" y="4536078"/>
            <a:ext cx="3094557" cy="866498"/>
          </a:xfrm>
          <a:prstGeom prst="stripedRightArrow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Laufrichtung  </a:t>
            </a:r>
            <a:r>
              <a:rPr lang="de-DE" dirty="0">
                <a:sym typeface="Wingdings" panose="05000000000000000000" pitchFamily="2" charset="2"/>
              </a:rPr>
              <a:t>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1D0F4A3-E913-88A6-994B-4FEDE7E92C65}"/>
              </a:ext>
            </a:extLst>
          </p:cNvPr>
          <p:cNvCxnSpPr>
            <a:cxnSpLocks/>
          </p:cNvCxnSpPr>
          <p:nvPr/>
        </p:nvCxnSpPr>
        <p:spPr>
          <a:xfrm flipH="1">
            <a:off x="7374890" y="1766032"/>
            <a:ext cx="180456" cy="168211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0F491203-3C4E-9CF4-1799-4409859A4753}"/>
              </a:ext>
            </a:extLst>
          </p:cNvPr>
          <p:cNvSpPr txBox="1"/>
          <p:nvPr/>
        </p:nvSpPr>
        <p:spPr>
          <a:xfrm>
            <a:off x="8304712" y="1589979"/>
            <a:ext cx="266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Barcode-Scanner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6376D25-DADE-7E65-65E7-B61575EC1C53}"/>
              </a:ext>
            </a:extLst>
          </p:cNvPr>
          <p:cNvCxnSpPr>
            <a:cxnSpLocks/>
          </p:cNvCxnSpPr>
          <p:nvPr/>
        </p:nvCxnSpPr>
        <p:spPr>
          <a:xfrm flipH="1">
            <a:off x="7482936" y="3388032"/>
            <a:ext cx="821776" cy="0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684807E6-684E-3564-E28D-756A93C03C7E}"/>
              </a:ext>
            </a:extLst>
          </p:cNvPr>
          <p:cNvSpPr txBox="1"/>
          <p:nvPr/>
        </p:nvSpPr>
        <p:spPr>
          <a:xfrm>
            <a:off x="8321964" y="3184327"/>
            <a:ext cx="1819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Waage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EA1706D-9640-5AF0-363F-9A2FF6A3CA48}"/>
              </a:ext>
            </a:extLst>
          </p:cNvPr>
          <p:cNvCxnSpPr>
            <a:cxnSpLocks/>
          </p:cNvCxnSpPr>
          <p:nvPr/>
        </p:nvCxnSpPr>
        <p:spPr>
          <a:xfrm flipH="1" flipV="1">
            <a:off x="6049369" y="2229085"/>
            <a:ext cx="865842" cy="383619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132FFD1F-1FE5-3448-F493-33AF0A3664B7}"/>
              </a:ext>
            </a:extLst>
          </p:cNvPr>
          <p:cNvSpPr txBox="1"/>
          <p:nvPr/>
        </p:nvSpPr>
        <p:spPr>
          <a:xfrm>
            <a:off x="8321964" y="2285604"/>
            <a:ext cx="2295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Adresslabel-Rollen</a:t>
            </a:r>
          </a:p>
          <a:p>
            <a:r>
              <a:rPr lang="de-DE" dirty="0"/>
              <a:t>(Blanko-Sticker)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9786450-923A-E053-E79A-8290A1F03953}"/>
              </a:ext>
            </a:extLst>
          </p:cNvPr>
          <p:cNvCxnSpPr>
            <a:cxnSpLocks/>
          </p:cNvCxnSpPr>
          <p:nvPr/>
        </p:nvCxnSpPr>
        <p:spPr>
          <a:xfrm flipH="1" flipV="1">
            <a:off x="3823855" y="3258585"/>
            <a:ext cx="3551035" cy="830032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41795F51-BD39-C812-AECC-12BBE0CB2E34}"/>
              </a:ext>
            </a:extLst>
          </p:cNvPr>
          <p:cNvSpPr txBox="1"/>
          <p:nvPr/>
        </p:nvSpPr>
        <p:spPr>
          <a:xfrm>
            <a:off x="8335465" y="3914355"/>
            <a:ext cx="229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Adresslabel-Drucker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5DDCBACC-93FC-6EF3-61D3-22C6BF7FA4F1}"/>
              </a:ext>
            </a:extLst>
          </p:cNvPr>
          <p:cNvCxnSpPr>
            <a:cxnSpLocks/>
          </p:cNvCxnSpPr>
          <p:nvPr/>
        </p:nvCxnSpPr>
        <p:spPr>
          <a:xfrm flipH="1" flipV="1">
            <a:off x="3075710" y="4650876"/>
            <a:ext cx="5246254" cy="155741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E6813169-BC7C-94AA-DB94-2B12D47A69F7}"/>
              </a:ext>
            </a:extLst>
          </p:cNvPr>
          <p:cNvCxnSpPr>
            <a:cxnSpLocks/>
          </p:cNvCxnSpPr>
          <p:nvPr/>
        </p:nvCxnSpPr>
        <p:spPr>
          <a:xfrm flipH="1">
            <a:off x="7555346" y="1766032"/>
            <a:ext cx="780119" cy="0"/>
          </a:xfrm>
          <a:prstGeom prst="straightConnector1">
            <a:avLst/>
          </a:prstGeom>
          <a:ln w="25400">
            <a:solidFill>
              <a:srgbClr val="00FF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9E23F57D-CBDB-0BEE-BFE2-334AF659228F}"/>
              </a:ext>
            </a:extLst>
          </p:cNvPr>
          <p:cNvCxnSpPr>
            <a:cxnSpLocks/>
          </p:cNvCxnSpPr>
          <p:nvPr/>
        </p:nvCxnSpPr>
        <p:spPr>
          <a:xfrm flipH="1">
            <a:off x="6915211" y="2600738"/>
            <a:ext cx="1420254" cy="0"/>
          </a:xfrm>
          <a:prstGeom prst="straightConnector1">
            <a:avLst/>
          </a:prstGeom>
          <a:ln w="25400">
            <a:solidFill>
              <a:srgbClr val="00FF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E77E53DD-F397-806F-2F47-261E2CEA60D6}"/>
              </a:ext>
            </a:extLst>
          </p:cNvPr>
          <p:cNvCxnSpPr>
            <a:cxnSpLocks/>
          </p:cNvCxnSpPr>
          <p:nvPr/>
        </p:nvCxnSpPr>
        <p:spPr>
          <a:xfrm flipH="1">
            <a:off x="7374890" y="4088617"/>
            <a:ext cx="947074" cy="0"/>
          </a:xfrm>
          <a:prstGeom prst="straightConnector1">
            <a:avLst/>
          </a:prstGeom>
          <a:ln w="25400">
            <a:solidFill>
              <a:srgbClr val="00FF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C2DE509A-7BB0-01C7-45EC-2D75FCE98835}"/>
              </a:ext>
            </a:extLst>
          </p:cNvPr>
          <p:cNvSpPr txBox="1"/>
          <p:nvPr/>
        </p:nvSpPr>
        <p:spPr>
          <a:xfrm>
            <a:off x="463519" y="400077"/>
            <a:ext cx="103971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Label-Maschine  (Labelmachine) =&gt; Versand-Abfertigung)</a:t>
            </a:r>
          </a:p>
          <a:p>
            <a:r>
              <a:rPr lang="de-DE" sz="1600" dirty="0">
                <a:solidFill>
                  <a:schemeClr val="bg1"/>
                </a:solidFill>
                <a:highlight>
                  <a:srgbClr val="FF0000"/>
                </a:highlight>
              </a:rPr>
              <a:t> Logfile-Erzeugung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67621C-7DF7-2162-F8E6-15837114BFBB}"/>
              </a:ext>
            </a:extLst>
          </p:cNvPr>
          <p:cNvSpPr/>
          <p:nvPr/>
        </p:nvSpPr>
        <p:spPr>
          <a:xfrm>
            <a:off x="6915210" y="1881866"/>
            <a:ext cx="511665" cy="341633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4E1E2C-BFC7-CD38-EF9E-7DFF4A3C2A98}"/>
              </a:ext>
            </a:extLst>
          </p:cNvPr>
          <p:cNvSpPr txBox="1"/>
          <p:nvPr/>
        </p:nvSpPr>
        <p:spPr>
          <a:xfrm>
            <a:off x="8321964" y="1827450"/>
            <a:ext cx="294413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/>
              <a:t>Strichcodesticker (Kundenbestell-Daten)   </a:t>
            </a:r>
          </a:p>
          <a:p>
            <a:r>
              <a:rPr lang="de-DE" sz="1050" dirty="0"/>
              <a:t>&amp;   Verpackungsbarcode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3338DB-2BC1-71B7-C22D-D685CF05468C}"/>
              </a:ext>
            </a:extLst>
          </p:cNvPr>
          <p:cNvSpPr txBox="1"/>
          <p:nvPr/>
        </p:nvSpPr>
        <p:spPr>
          <a:xfrm>
            <a:off x="8185531" y="6203853"/>
            <a:ext cx="346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Labelmaschine &amp; QA-Kontrolle</a:t>
            </a: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E4728521-AE92-A11E-FA09-FF1F143453AC}"/>
              </a:ext>
            </a:extLst>
          </p:cNvPr>
          <p:cNvSpPr/>
          <p:nvPr/>
        </p:nvSpPr>
        <p:spPr>
          <a:xfrm>
            <a:off x="11342733" y="6172949"/>
            <a:ext cx="570345" cy="4023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44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Bautechnik, Stahl, Fabrik, Werkzeugraum enthält.&#10;&#10;KI-generierte Inhalte können fehlerhaft sein.">
            <a:extLst>
              <a:ext uri="{FF2B5EF4-FFF2-40B4-BE49-F238E27FC236}">
                <a16:creationId xmlns:a16="http://schemas.microsoft.com/office/drawing/2014/main" id="{C06E13C1-CF15-813E-DB61-7D5AB7460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894" y="955301"/>
            <a:ext cx="7144747" cy="5353797"/>
          </a:xfrm>
          <a:prstGeom prst="rect">
            <a:avLst/>
          </a:prstGeom>
        </p:spPr>
      </p:pic>
      <p:sp>
        <p:nvSpPr>
          <p:cNvPr id="10" name="Pfeil: gestreift nach rechts 9">
            <a:extLst>
              <a:ext uri="{FF2B5EF4-FFF2-40B4-BE49-F238E27FC236}">
                <a16:creationId xmlns:a16="http://schemas.microsoft.com/office/drawing/2014/main" id="{464474A5-66D7-9991-26A0-7987FB26CDB6}"/>
              </a:ext>
            </a:extLst>
          </p:cNvPr>
          <p:cNvSpPr/>
          <p:nvPr/>
        </p:nvSpPr>
        <p:spPr>
          <a:xfrm rot="21115646" flipH="1">
            <a:off x="4908979" y="4111041"/>
            <a:ext cx="3094557" cy="866498"/>
          </a:xfrm>
          <a:prstGeom prst="stripedRightArrow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Laufrichtung  </a:t>
            </a:r>
            <a:r>
              <a:rPr lang="de-DE" dirty="0">
                <a:sym typeface="Wingdings" panose="05000000000000000000" pitchFamily="2" charset="2"/>
              </a:rPr>
              <a:t>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6C2C856-C246-B5B3-1024-307E33157E90}"/>
              </a:ext>
            </a:extLst>
          </p:cNvPr>
          <p:cNvSpPr txBox="1"/>
          <p:nvPr/>
        </p:nvSpPr>
        <p:spPr>
          <a:xfrm>
            <a:off x="9693359" y="407235"/>
            <a:ext cx="2295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Scanner in Aktion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3B64FA5-D51A-26B9-7819-A6CD22C09E84}"/>
              </a:ext>
            </a:extLst>
          </p:cNvPr>
          <p:cNvCxnSpPr>
            <a:cxnSpLocks/>
          </p:cNvCxnSpPr>
          <p:nvPr/>
        </p:nvCxnSpPr>
        <p:spPr>
          <a:xfrm flipH="1">
            <a:off x="8049044" y="776567"/>
            <a:ext cx="1644315" cy="1033760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lipse 17">
            <a:extLst>
              <a:ext uri="{FF2B5EF4-FFF2-40B4-BE49-F238E27FC236}">
                <a16:creationId xmlns:a16="http://schemas.microsoft.com/office/drawing/2014/main" id="{356BBC1A-522C-9EF7-83D1-BC4A0FFAB297}"/>
              </a:ext>
            </a:extLst>
          </p:cNvPr>
          <p:cNvSpPr/>
          <p:nvPr/>
        </p:nvSpPr>
        <p:spPr>
          <a:xfrm>
            <a:off x="7313925" y="1496292"/>
            <a:ext cx="1237673" cy="757690"/>
          </a:xfrm>
          <a:prstGeom prst="ellipse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C7F62CA-78AB-FCFD-17C0-D5867A34FA10}"/>
              </a:ext>
            </a:extLst>
          </p:cNvPr>
          <p:cNvSpPr/>
          <p:nvPr/>
        </p:nvSpPr>
        <p:spPr>
          <a:xfrm rot="21295450">
            <a:off x="495117" y="4197801"/>
            <a:ext cx="2592577" cy="330687"/>
          </a:xfrm>
          <a:prstGeom prst="rect">
            <a:avLst/>
          </a:prstGeom>
          <a:solidFill>
            <a:srgbClr val="2820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2723B3F-4EB5-DDD4-74B4-0F2259001371}"/>
              </a:ext>
            </a:extLst>
          </p:cNvPr>
          <p:cNvSpPr/>
          <p:nvPr/>
        </p:nvSpPr>
        <p:spPr>
          <a:xfrm rot="16200000">
            <a:off x="841462" y="4679128"/>
            <a:ext cx="1117602" cy="330687"/>
          </a:xfrm>
          <a:prstGeom prst="rect">
            <a:avLst/>
          </a:prstGeom>
          <a:solidFill>
            <a:srgbClr val="2820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8A04283-0B39-2252-3ACF-9E557F8ADC1E}"/>
              </a:ext>
            </a:extLst>
          </p:cNvPr>
          <p:cNvSpPr/>
          <p:nvPr/>
        </p:nvSpPr>
        <p:spPr>
          <a:xfrm>
            <a:off x="532950" y="5392746"/>
            <a:ext cx="1772759" cy="942109"/>
          </a:xfrm>
          <a:prstGeom prst="rect">
            <a:avLst/>
          </a:prstGeom>
          <a:solidFill>
            <a:srgbClr val="0033CC"/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QA</a:t>
            </a:r>
          </a:p>
          <a:p>
            <a:pPr algn="ctr"/>
            <a:r>
              <a:rPr lang="de-DE" dirty="0"/>
              <a:t>Workstation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8A75901-E06A-57BA-0826-D233AF06C8F1}"/>
              </a:ext>
            </a:extLst>
          </p:cNvPr>
          <p:cNvCxnSpPr>
            <a:cxnSpLocks/>
          </p:cNvCxnSpPr>
          <p:nvPr/>
        </p:nvCxnSpPr>
        <p:spPr>
          <a:xfrm flipH="1">
            <a:off x="1827202" y="4285670"/>
            <a:ext cx="427756" cy="50689"/>
          </a:xfrm>
          <a:prstGeom prst="straightConnector1">
            <a:avLst/>
          </a:prstGeom>
          <a:ln w="25400">
            <a:solidFill>
              <a:srgbClr val="00FF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A18EFB3-F57E-9178-152C-2939DCB86267}"/>
              </a:ext>
            </a:extLst>
          </p:cNvPr>
          <p:cNvCxnSpPr>
            <a:cxnSpLocks/>
          </p:cNvCxnSpPr>
          <p:nvPr/>
        </p:nvCxnSpPr>
        <p:spPr>
          <a:xfrm flipH="1">
            <a:off x="871817" y="4394938"/>
            <a:ext cx="427756" cy="50689"/>
          </a:xfrm>
          <a:prstGeom prst="straightConnector1">
            <a:avLst/>
          </a:prstGeom>
          <a:ln w="25400">
            <a:solidFill>
              <a:srgbClr val="00FF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F993F038-96B5-28AC-19DB-199A2015773E}"/>
              </a:ext>
            </a:extLst>
          </p:cNvPr>
          <p:cNvCxnSpPr>
            <a:cxnSpLocks/>
          </p:cNvCxnSpPr>
          <p:nvPr/>
        </p:nvCxnSpPr>
        <p:spPr>
          <a:xfrm>
            <a:off x="1399244" y="4587338"/>
            <a:ext cx="0" cy="514266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848B2089-9543-F77C-0072-AC9361385C6D}"/>
              </a:ext>
            </a:extLst>
          </p:cNvPr>
          <p:cNvCxnSpPr>
            <a:cxnSpLocks/>
          </p:cNvCxnSpPr>
          <p:nvPr/>
        </p:nvCxnSpPr>
        <p:spPr>
          <a:xfrm>
            <a:off x="1425494" y="3789116"/>
            <a:ext cx="0" cy="3322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06E67DA9-E8D0-3A40-DBB4-FC0438591899}"/>
              </a:ext>
            </a:extLst>
          </p:cNvPr>
          <p:cNvSpPr txBox="1"/>
          <p:nvPr/>
        </p:nvSpPr>
        <p:spPr>
          <a:xfrm>
            <a:off x="267232" y="2884262"/>
            <a:ext cx="2115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Kickout (KO)</a:t>
            </a:r>
          </a:p>
          <a:p>
            <a:pPr algn="ctr"/>
            <a:r>
              <a:rPr lang="de-DE" dirty="0"/>
              <a:t>wenn weight:</a:t>
            </a:r>
          </a:p>
          <a:p>
            <a:pPr algn="ctr"/>
            <a:r>
              <a:rPr lang="de-DE" dirty="0"/>
              <a:t>EXP  !=  ACT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94888D6D-EBE0-A4CF-E266-6CF6B03693F4}"/>
              </a:ext>
            </a:extLst>
          </p:cNvPr>
          <p:cNvSpPr txBox="1"/>
          <p:nvPr/>
        </p:nvSpPr>
        <p:spPr>
          <a:xfrm>
            <a:off x="481157" y="269571"/>
            <a:ext cx="8047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Label-Maschine &amp; </a:t>
            </a:r>
            <a:r>
              <a:rPr lang="de-DE" sz="3200" dirty="0" err="1"/>
              <a:t>Kickoutprocess</a:t>
            </a:r>
            <a:endParaRPr lang="de-DE" sz="32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00DEFC9-CC83-3A00-0632-55559A6839A9}"/>
              </a:ext>
            </a:extLst>
          </p:cNvPr>
          <p:cNvSpPr txBox="1"/>
          <p:nvPr/>
        </p:nvSpPr>
        <p:spPr>
          <a:xfrm>
            <a:off x="361695" y="2294389"/>
            <a:ext cx="2020664" cy="561692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de-DE" sz="1250" dirty="0" err="1">
                <a:solidFill>
                  <a:schemeClr val="bg1"/>
                </a:solidFill>
              </a:rPr>
              <a:t>Packetproblemerkennung</a:t>
            </a:r>
            <a:endParaRPr lang="de-DE" sz="1250" dirty="0">
              <a:solidFill>
                <a:schemeClr val="bg1"/>
              </a:solidFill>
            </a:endParaRPr>
          </a:p>
          <a:p>
            <a:r>
              <a:rPr lang="de-DE" sz="1800" dirty="0" err="1">
                <a:solidFill>
                  <a:schemeClr val="bg1"/>
                </a:solidFill>
              </a:rPr>
              <a:t>Machine</a:t>
            </a:r>
            <a:r>
              <a:rPr lang="de-DE" sz="1800" dirty="0">
                <a:solidFill>
                  <a:schemeClr val="bg1"/>
                </a:solidFill>
              </a:rPr>
              <a:t>-Learning</a:t>
            </a:r>
          </a:p>
        </p:txBody>
      </p:sp>
    </p:spTree>
    <p:extLst>
      <p:ext uri="{BB962C8B-B14F-4D97-AF65-F5344CB8AC3E}">
        <p14:creationId xmlns:p14="http://schemas.microsoft.com/office/powerpoint/2010/main" val="35923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5DA710-7168-EB00-79B6-37454B75F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72" y="277771"/>
            <a:ext cx="10515600" cy="1325563"/>
          </a:xfrm>
        </p:spPr>
        <p:txBody>
          <a:bodyPr/>
          <a:lstStyle/>
          <a:p>
            <a:r>
              <a:rPr lang="de-DE" dirty="0"/>
              <a:t>Insight Log-Data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B5B1C7A-542E-D029-CEB3-F2F7C8509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72" y="2572115"/>
            <a:ext cx="11260347" cy="1238209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C667D10-A414-B0A9-80D8-C5E3C9163BFB}"/>
              </a:ext>
            </a:extLst>
          </p:cNvPr>
          <p:cNvCxnSpPr>
            <a:cxnSpLocks/>
          </p:cNvCxnSpPr>
          <p:nvPr/>
        </p:nvCxnSpPr>
        <p:spPr>
          <a:xfrm flipH="1">
            <a:off x="726141" y="2048161"/>
            <a:ext cx="271386" cy="3935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1954C7B-F901-F892-F1BF-1C034AE3DEB0}"/>
              </a:ext>
            </a:extLst>
          </p:cNvPr>
          <p:cNvCxnSpPr>
            <a:cxnSpLocks/>
          </p:cNvCxnSpPr>
          <p:nvPr/>
        </p:nvCxnSpPr>
        <p:spPr>
          <a:xfrm>
            <a:off x="2105257" y="2060961"/>
            <a:ext cx="591761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077361E0-2EFF-D061-1E8C-F52D076B8DEB}"/>
              </a:ext>
            </a:extLst>
          </p:cNvPr>
          <p:cNvSpPr txBox="1"/>
          <p:nvPr/>
        </p:nvSpPr>
        <p:spPr>
          <a:xfrm>
            <a:off x="2003313" y="1841481"/>
            <a:ext cx="788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Priorität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3688DFC-30F4-96D0-0C28-44D2C9CB831A}"/>
              </a:ext>
            </a:extLst>
          </p:cNvPr>
          <p:cNvCxnSpPr>
            <a:cxnSpLocks/>
          </p:cNvCxnSpPr>
          <p:nvPr/>
        </p:nvCxnSpPr>
        <p:spPr>
          <a:xfrm flipH="1">
            <a:off x="1852286" y="2066023"/>
            <a:ext cx="252971" cy="40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E8C97D5-0B8D-2039-5E41-3AACA9D66653}"/>
              </a:ext>
            </a:extLst>
          </p:cNvPr>
          <p:cNvCxnSpPr>
            <a:cxnSpLocks/>
          </p:cNvCxnSpPr>
          <p:nvPr/>
        </p:nvCxnSpPr>
        <p:spPr>
          <a:xfrm>
            <a:off x="2991763" y="2057397"/>
            <a:ext cx="1229255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CE283432-2F39-2D20-2620-8FDF4AE640DB}"/>
              </a:ext>
            </a:extLst>
          </p:cNvPr>
          <p:cNvSpPr txBox="1"/>
          <p:nvPr/>
        </p:nvSpPr>
        <p:spPr>
          <a:xfrm>
            <a:off x="2723103" y="1832245"/>
            <a:ext cx="1598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Maschinenbereich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F34625A-A1DB-E985-D65C-25FC42083237}"/>
              </a:ext>
            </a:extLst>
          </p:cNvPr>
          <p:cNvSpPr txBox="1"/>
          <p:nvPr/>
        </p:nvSpPr>
        <p:spPr>
          <a:xfrm>
            <a:off x="712684" y="1832245"/>
            <a:ext cx="1052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Timestamp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C056274-23DB-B81C-3878-BEBCB9EB13A9}"/>
              </a:ext>
            </a:extLst>
          </p:cNvPr>
          <p:cNvCxnSpPr>
            <a:cxnSpLocks/>
          </p:cNvCxnSpPr>
          <p:nvPr/>
        </p:nvCxnSpPr>
        <p:spPr>
          <a:xfrm flipH="1">
            <a:off x="1337395" y="2048161"/>
            <a:ext cx="269732" cy="40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BF8638A-5F98-025B-0676-9BA18539D51D}"/>
              </a:ext>
            </a:extLst>
          </p:cNvPr>
          <p:cNvCxnSpPr>
            <a:cxnSpLocks/>
          </p:cNvCxnSpPr>
          <p:nvPr/>
        </p:nvCxnSpPr>
        <p:spPr>
          <a:xfrm>
            <a:off x="786572" y="2048161"/>
            <a:ext cx="1005283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F4310CE-F542-FA9E-CBD9-BA723708539D}"/>
              </a:ext>
            </a:extLst>
          </p:cNvPr>
          <p:cNvCxnSpPr>
            <a:cxnSpLocks/>
          </p:cNvCxnSpPr>
          <p:nvPr/>
        </p:nvCxnSpPr>
        <p:spPr>
          <a:xfrm flipH="1">
            <a:off x="2655666" y="2057397"/>
            <a:ext cx="336916" cy="4794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DCC30585-3466-90EF-5E1D-7BF3B01C9673}"/>
              </a:ext>
            </a:extLst>
          </p:cNvPr>
          <p:cNvCxnSpPr>
            <a:cxnSpLocks/>
          </p:cNvCxnSpPr>
          <p:nvPr/>
        </p:nvCxnSpPr>
        <p:spPr>
          <a:xfrm flipH="1">
            <a:off x="4052560" y="2081424"/>
            <a:ext cx="334713" cy="5290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399D439-86A4-19F6-50D2-7A472BD4038D}"/>
              </a:ext>
            </a:extLst>
          </p:cNvPr>
          <p:cNvCxnSpPr>
            <a:cxnSpLocks/>
          </p:cNvCxnSpPr>
          <p:nvPr/>
        </p:nvCxnSpPr>
        <p:spPr>
          <a:xfrm>
            <a:off x="6293765" y="2075884"/>
            <a:ext cx="5103908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F7664028-031C-EC25-49C7-F30529B1855C}"/>
              </a:ext>
            </a:extLst>
          </p:cNvPr>
          <p:cNvSpPr txBox="1"/>
          <p:nvPr/>
        </p:nvSpPr>
        <p:spPr>
          <a:xfrm>
            <a:off x="6289964" y="1827777"/>
            <a:ext cx="5175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Log-Details (hier Paket-, Scanner,- Gewichtsdaten)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A679DAB-6379-E91A-1158-20BCC0A650A0}"/>
              </a:ext>
            </a:extLst>
          </p:cNvPr>
          <p:cNvCxnSpPr>
            <a:cxnSpLocks/>
          </p:cNvCxnSpPr>
          <p:nvPr/>
        </p:nvCxnSpPr>
        <p:spPr>
          <a:xfrm>
            <a:off x="4387273" y="2081424"/>
            <a:ext cx="1679972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EF7C89CF-FA7C-8896-DB6B-598FFB4862FB}"/>
              </a:ext>
            </a:extLst>
          </p:cNvPr>
          <p:cNvSpPr txBox="1"/>
          <p:nvPr/>
        </p:nvSpPr>
        <p:spPr>
          <a:xfrm>
            <a:off x="4348125" y="1829125"/>
            <a:ext cx="1736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IT Sytem der Logsource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44DAC300-D027-93F7-F739-5C20810EE570}"/>
              </a:ext>
            </a:extLst>
          </p:cNvPr>
          <p:cNvCxnSpPr>
            <a:cxnSpLocks/>
          </p:cNvCxnSpPr>
          <p:nvPr/>
        </p:nvCxnSpPr>
        <p:spPr>
          <a:xfrm flipH="1">
            <a:off x="5925830" y="2081424"/>
            <a:ext cx="372760" cy="6247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fik 51">
            <a:extLst>
              <a:ext uri="{FF2B5EF4-FFF2-40B4-BE49-F238E27FC236}">
                <a16:creationId xmlns:a16="http://schemas.microsoft.com/office/drawing/2014/main" id="{62B0AEBD-0D4D-0C08-2A10-1A9F954B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127" y="4464952"/>
            <a:ext cx="9975273" cy="1769450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033F90DC-3DA5-A1B5-6B60-792A878FEBEB}"/>
              </a:ext>
            </a:extLst>
          </p:cNvPr>
          <p:cNvCxnSpPr>
            <a:cxnSpLocks/>
          </p:cNvCxnSpPr>
          <p:nvPr/>
        </p:nvCxnSpPr>
        <p:spPr>
          <a:xfrm flipH="1">
            <a:off x="4554841" y="2872509"/>
            <a:ext cx="3942614" cy="21894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DD0AD0F0-7F62-1F4D-FC69-B6CBE32E429A}"/>
              </a:ext>
            </a:extLst>
          </p:cNvPr>
          <p:cNvCxnSpPr>
            <a:cxnSpLocks/>
          </p:cNvCxnSpPr>
          <p:nvPr/>
        </p:nvCxnSpPr>
        <p:spPr>
          <a:xfrm flipH="1">
            <a:off x="3358732" y="2872509"/>
            <a:ext cx="4501413" cy="22171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BEC1B94E-CC4D-A246-E119-D8268372D6F5}"/>
              </a:ext>
            </a:extLst>
          </p:cNvPr>
          <p:cNvCxnSpPr>
            <a:cxnSpLocks/>
          </p:cNvCxnSpPr>
          <p:nvPr/>
        </p:nvCxnSpPr>
        <p:spPr>
          <a:xfrm flipH="1">
            <a:off x="5917204" y="2912288"/>
            <a:ext cx="3069778" cy="2131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4AF5D3CC-026F-67A1-69CA-73FA136795BE}"/>
              </a:ext>
            </a:extLst>
          </p:cNvPr>
          <p:cNvCxnSpPr>
            <a:cxnSpLocks/>
          </p:cNvCxnSpPr>
          <p:nvPr/>
        </p:nvCxnSpPr>
        <p:spPr>
          <a:xfrm flipH="1">
            <a:off x="7680475" y="2912288"/>
            <a:ext cx="2013089" cy="21205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E758D415-C2AC-69F9-C65A-F35D727E4BA6}"/>
              </a:ext>
            </a:extLst>
          </p:cNvPr>
          <p:cNvCxnSpPr>
            <a:cxnSpLocks/>
          </p:cNvCxnSpPr>
          <p:nvPr/>
        </p:nvCxnSpPr>
        <p:spPr>
          <a:xfrm flipH="1">
            <a:off x="9019531" y="2901634"/>
            <a:ext cx="1329814" cy="21418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1633B7FC-212A-137A-641D-B4BFA9F0A36F}"/>
              </a:ext>
            </a:extLst>
          </p:cNvPr>
          <p:cNvCxnSpPr>
            <a:cxnSpLocks/>
          </p:cNvCxnSpPr>
          <p:nvPr/>
        </p:nvCxnSpPr>
        <p:spPr>
          <a:xfrm>
            <a:off x="10871421" y="2912288"/>
            <a:ext cx="46072" cy="21522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7033AD97-FC78-D9B8-AF95-65C8AAD24A3F}"/>
              </a:ext>
            </a:extLst>
          </p:cNvPr>
          <p:cNvSpPr/>
          <p:nvPr/>
        </p:nvSpPr>
        <p:spPr>
          <a:xfrm>
            <a:off x="1710014" y="5055124"/>
            <a:ext cx="2179920" cy="286501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59803A22-A8CB-B78E-3B88-4B4DD5D6C48B}"/>
              </a:ext>
            </a:extLst>
          </p:cNvPr>
          <p:cNvSpPr/>
          <p:nvPr/>
        </p:nvSpPr>
        <p:spPr>
          <a:xfrm>
            <a:off x="7495069" y="2722460"/>
            <a:ext cx="868791" cy="187962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F266150B-A175-5798-5050-4E3F5C0D3AF2}"/>
              </a:ext>
            </a:extLst>
          </p:cNvPr>
          <p:cNvSpPr/>
          <p:nvPr/>
        </p:nvSpPr>
        <p:spPr>
          <a:xfrm>
            <a:off x="4233689" y="5035869"/>
            <a:ext cx="1304497" cy="286501"/>
          </a:xfrm>
          <a:prstGeom prst="rect">
            <a:avLst/>
          </a:prstGeom>
          <a:solidFill>
            <a:srgbClr val="0070C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D3CD9437-45E8-6E21-E37F-91D30D3111A4}"/>
              </a:ext>
            </a:extLst>
          </p:cNvPr>
          <p:cNvSpPr/>
          <p:nvPr/>
        </p:nvSpPr>
        <p:spPr>
          <a:xfrm>
            <a:off x="8478353" y="2724326"/>
            <a:ext cx="480921" cy="187962"/>
          </a:xfrm>
          <a:prstGeom prst="rect">
            <a:avLst/>
          </a:prstGeom>
          <a:solidFill>
            <a:srgbClr val="0070C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862AC418-ECC3-D210-EDD4-056BD9D4EF1F}"/>
              </a:ext>
            </a:extLst>
          </p:cNvPr>
          <p:cNvSpPr/>
          <p:nvPr/>
        </p:nvSpPr>
        <p:spPr>
          <a:xfrm>
            <a:off x="8999879" y="2722299"/>
            <a:ext cx="584163" cy="180753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C33C31E2-50B9-D54C-3A37-0A1630DD3A5D}"/>
              </a:ext>
            </a:extLst>
          </p:cNvPr>
          <p:cNvSpPr/>
          <p:nvPr/>
        </p:nvSpPr>
        <p:spPr>
          <a:xfrm>
            <a:off x="5693997" y="5032863"/>
            <a:ext cx="1595794" cy="286501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E6B6CE37-E01C-2AF7-A49E-037E3847D291}"/>
              </a:ext>
            </a:extLst>
          </p:cNvPr>
          <p:cNvSpPr/>
          <p:nvPr/>
        </p:nvSpPr>
        <p:spPr>
          <a:xfrm>
            <a:off x="7353195" y="5032862"/>
            <a:ext cx="1329814" cy="308763"/>
          </a:xfrm>
          <a:prstGeom prst="rect">
            <a:avLst/>
          </a:prstGeom>
          <a:solidFill>
            <a:schemeClr val="accent5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5FA51906-F72B-A7F4-2F85-64EA087D453C}"/>
              </a:ext>
            </a:extLst>
          </p:cNvPr>
          <p:cNvSpPr/>
          <p:nvPr/>
        </p:nvSpPr>
        <p:spPr>
          <a:xfrm>
            <a:off x="9608189" y="2717277"/>
            <a:ext cx="483305" cy="195011"/>
          </a:xfrm>
          <a:prstGeom prst="rect">
            <a:avLst/>
          </a:prstGeom>
          <a:solidFill>
            <a:schemeClr val="accent5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98A5C0D0-520B-55F1-FB22-241B4C510BC9}"/>
              </a:ext>
            </a:extLst>
          </p:cNvPr>
          <p:cNvSpPr/>
          <p:nvPr/>
        </p:nvSpPr>
        <p:spPr>
          <a:xfrm>
            <a:off x="8735102" y="5040914"/>
            <a:ext cx="1198344" cy="308763"/>
          </a:xfrm>
          <a:prstGeom prst="rect">
            <a:avLst/>
          </a:prstGeom>
          <a:solidFill>
            <a:schemeClr val="tx1">
              <a:lumMod val="75000"/>
              <a:lumOff val="2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BC5F6C8-93B1-8B07-92B2-FCFC1683F3F3}"/>
              </a:ext>
            </a:extLst>
          </p:cNvPr>
          <p:cNvSpPr/>
          <p:nvPr/>
        </p:nvSpPr>
        <p:spPr>
          <a:xfrm>
            <a:off x="10109771" y="2718127"/>
            <a:ext cx="483305" cy="183507"/>
          </a:xfrm>
          <a:prstGeom prst="rect">
            <a:avLst/>
          </a:prstGeom>
          <a:solidFill>
            <a:schemeClr val="tx1">
              <a:lumMod val="75000"/>
              <a:lumOff val="2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A204432A-D197-8F90-8589-3A0AA14499AE}"/>
              </a:ext>
            </a:extLst>
          </p:cNvPr>
          <p:cNvSpPr txBox="1"/>
          <p:nvPr/>
        </p:nvSpPr>
        <p:spPr>
          <a:xfrm>
            <a:off x="8557228" y="5600773"/>
            <a:ext cx="3602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und vieles mehr …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D807C81-ACEB-69C7-9172-82C4C9A1075B}"/>
              </a:ext>
            </a:extLst>
          </p:cNvPr>
          <p:cNvSpPr txBox="1"/>
          <p:nvPr/>
        </p:nvSpPr>
        <p:spPr>
          <a:xfrm>
            <a:off x="9376912" y="241941"/>
            <a:ext cx="254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Machine-Log-Navigator</a:t>
            </a:r>
          </a:p>
        </p:txBody>
      </p:sp>
    </p:spTree>
    <p:extLst>
      <p:ext uri="{BB962C8B-B14F-4D97-AF65-F5344CB8AC3E}">
        <p14:creationId xmlns:p14="http://schemas.microsoft.com/office/powerpoint/2010/main" val="2897287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E970565-9AED-56BD-8E1B-32F49DEDA012}"/>
              </a:ext>
            </a:extLst>
          </p:cNvPr>
          <p:cNvSpPr txBox="1"/>
          <p:nvPr/>
        </p:nvSpPr>
        <p:spPr>
          <a:xfrm>
            <a:off x="9263555" y="211050"/>
            <a:ext cx="254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Machine-Log-Navigator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9B8CC78-3208-CB35-E43F-8CD5383C51DE}"/>
              </a:ext>
            </a:extLst>
          </p:cNvPr>
          <p:cNvSpPr txBox="1"/>
          <p:nvPr/>
        </p:nvSpPr>
        <p:spPr>
          <a:xfrm>
            <a:off x="638352" y="3866009"/>
            <a:ext cx="11169769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2.) Analysen / </a:t>
            </a:r>
            <a:r>
              <a:rPr lang="de-DE" dirty="0" err="1">
                <a:solidFill>
                  <a:schemeClr val="bg1"/>
                </a:solidFill>
                <a:highlight>
                  <a:srgbClr val="000080"/>
                </a:highlight>
              </a:rPr>
              <a:t>Machine</a:t>
            </a:r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-Learning-Modell / </a:t>
            </a:r>
            <a:r>
              <a:rPr lang="de-DE" dirty="0" err="1">
                <a:solidFill>
                  <a:schemeClr val="bg1"/>
                </a:solidFill>
                <a:highlight>
                  <a:srgbClr val="000080"/>
                </a:highlight>
              </a:rPr>
              <a:t>Streamlitvariablen</a:t>
            </a:r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  <a:r>
              <a:rPr lang="de-DE" sz="1050" dirty="0">
                <a:solidFill>
                  <a:srgbClr val="FFFF00"/>
                </a:solidFill>
                <a:highlight>
                  <a:srgbClr val="000080"/>
                </a:highlight>
              </a:rPr>
              <a:t>(EDA, ML, Python)</a:t>
            </a:r>
            <a:r>
              <a:rPr lang="de-DE" sz="1100" dirty="0">
                <a:solidFill>
                  <a:schemeClr val="bg1"/>
                </a:solidFill>
                <a:highlight>
                  <a:srgbClr val="000080"/>
                </a:highlight>
              </a:rPr>
              <a:t> </a:t>
            </a:r>
          </a:p>
          <a:p>
            <a:endParaRPr lang="de-DE" sz="500" dirty="0"/>
          </a:p>
          <a:p>
            <a:r>
              <a:rPr lang="de-DE" sz="1200" dirty="0"/>
              <a:t>Erstellen eines Automatismus/ML-Modell, der die richtige Balance zu Kickouts (manuelle QA Nachbearbeitung) und Non-Kickouts trifft (QA-Produktivität)</a:t>
            </a:r>
          </a:p>
          <a:p>
            <a:r>
              <a:rPr lang="de-DE" sz="1200" i="1" dirty="0">
                <a:solidFill>
                  <a:schemeClr val="bg1">
                    <a:lumMod val="50000"/>
                  </a:schemeClr>
                </a:solidFill>
              </a:rPr>
              <a:t>Die aktuelle Erfolgsquote von tatsächlichen Inhaltsfehlern der Pakete liegt bei </a:t>
            </a:r>
            <a:r>
              <a:rPr lang="de-DE" sz="1200" i="1" dirty="0">
                <a:solidFill>
                  <a:srgbClr val="C00000"/>
                </a:solidFill>
              </a:rPr>
              <a:t>16%</a:t>
            </a:r>
            <a:r>
              <a:rPr lang="de-DE" sz="1200" i="1" dirty="0">
                <a:solidFill>
                  <a:schemeClr val="bg1">
                    <a:lumMod val="50000"/>
                  </a:schemeClr>
                </a:solidFill>
              </a:rPr>
              <a:t> (von 100 manuell geprüften Paketen hat nur jedes 16. ein </a:t>
            </a:r>
            <a:r>
              <a:rPr lang="de-DE" sz="1200" i="1" dirty="0" err="1">
                <a:solidFill>
                  <a:schemeClr val="bg1">
                    <a:lumMod val="50000"/>
                  </a:schemeClr>
                </a:solidFill>
              </a:rPr>
              <a:t>Inhaltsprobem</a:t>
            </a:r>
            <a:r>
              <a:rPr lang="de-DE" sz="1200" i="1" dirty="0">
                <a:solidFill>
                  <a:schemeClr val="bg1">
                    <a:lumMod val="50000"/>
                  </a:schemeClr>
                </a:solidFill>
              </a:rPr>
              <a:t>)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E142E9D-34A3-2AC2-DC0C-B5AD0D8F8089}"/>
              </a:ext>
            </a:extLst>
          </p:cNvPr>
          <p:cNvSpPr txBox="1"/>
          <p:nvPr/>
        </p:nvSpPr>
        <p:spPr>
          <a:xfrm>
            <a:off x="638352" y="1830650"/>
            <a:ext cx="11042532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1.) Logdaten-Aufbereitung /  Analysen / </a:t>
            </a:r>
            <a:r>
              <a:rPr lang="de-DE" dirty="0" err="1">
                <a:solidFill>
                  <a:schemeClr val="bg1"/>
                </a:solidFill>
                <a:highlight>
                  <a:srgbClr val="000080"/>
                </a:highlight>
              </a:rPr>
              <a:t>Dashboardconfig</a:t>
            </a:r>
            <a:r>
              <a:rPr lang="de-DE" sz="1050" dirty="0">
                <a:solidFill>
                  <a:schemeClr val="bg1"/>
                </a:solidFill>
                <a:highlight>
                  <a:srgbClr val="000080"/>
                </a:highlight>
              </a:rPr>
              <a:t>    </a:t>
            </a:r>
            <a:r>
              <a:rPr lang="de-DE" sz="1050" dirty="0">
                <a:solidFill>
                  <a:srgbClr val="FFFF00"/>
                </a:solidFill>
                <a:highlight>
                  <a:srgbClr val="000080"/>
                </a:highlight>
              </a:rPr>
              <a:t>(Python, SQL, EDA)</a:t>
            </a:r>
          </a:p>
          <a:p>
            <a:endParaRPr lang="de-DE" sz="500" dirty="0"/>
          </a:p>
          <a:p>
            <a:r>
              <a:rPr lang="de-DE" sz="1200" dirty="0"/>
              <a:t>a) Gibt es Auffälligkeiten innerhalb der einzelnen Packstationen/Workstations mit Einfluss auf Maschine &amp; Produktivität?</a:t>
            </a:r>
          </a:p>
          <a:p>
            <a:r>
              <a:rPr lang="de-DE" sz="1200" dirty="0"/>
              <a:t>b) Gibt es Auffälligkeiten bezüglich des Technik-Teams bei der tägl. Maschinenbetreuung (Wartung, Tonerwechsel, </a:t>
            </a:r>
            <a:r>
              <a:rPr lang="de-DE" sz="1200" dirty="0" err="1"/>
              <a:t>Labelrollenwechsel</a:t>
            </a:r>
            <a:r>
              <a:rPr lang="de-DE" sz="1200" dirty="0"/>
              <a:t> </a:t>
            </a:r>
            <a:r>
              <a:rPr lang="de-DE" sz="1200" dirty="0" err="1"/>
              <a:t>ect.</a:t>
            </a:r>
            <a:r>
              <a:rPr lang="de-DE" sz="1200" dirty="0"/>
              <a:t>)</a:t>
            </a:r>
          </a:p>
          <a:p>
            <a:r>
              <a:rPr lang="de-DE" sz="1200" dirty="0"/>
              <a:t>c) Gibt es Auffälligkeiten innerhalb der Schichtwechselzeiten mit Einfluss auf Maschine &amp; Produktivität?</a:t>
            </a:r>
          </a:p>
          <a:p>
            <a:r>
              <a:rPr lang="de-DE" sz="1200" dirty="0"/>
              <a:t>d) Wie ist die Performance der beiden integrierten Drucker der Label-</a:t>
            </a:r>
            <a:r>
              <a:rPr lang="de-DE" sz="1200" dirty="0" err="1"/>
              <a:t>Machine</a:t>
            </a:r>
            <a:endParaRPr lang="de-DE" sz="1200" dirty="0"/>
          </a:p>
          <a:p>
            <a:r>
              <a:rPr lang="de-DE" sz="1200" dirty="0"/>
              <a:t>e) Gibt es Auffälligkeiten im Bezug zur Förderbandgeschwindigkeit, dem Workflow und damit der Produktivität allgemein?</a:t>
            </a:r>
          </a:p>
          <a:p>
            <a:r>
              <a:rPr lang="de-DE" sz="1200" dirty="0"/>
              <a:t>f) Gibt es Materialverbrauchsunterschiede zwischen den 3 Schichten?</a:t>
            </a:r>
          </a:p>
          <a:p>
            <a:r>
              <a:rPr lang="de-DE" sz="1200" dirty="0"/>
              <a:t>    tbd?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2D18582-8F29-6160-3325-8741E11100AC}"/>
              </a:ext>
            </a:extLst>
          </p:cNvPr>
          <p:cNvSpPr txBox="1"/>
          <p:nvPr/>
        </p:nvSpPr>
        <p:spPr>
          <a:xfrm>
            <a:off x="638352" y="4999034"/>
            <a:ext cx="1104253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3.) Logfile-Industriesimulation  </a:t>
            </a:r>
            <a:r>
              <a:rPr lang="de-DE" sz="1050" dirty="0">
                <a:solidFill>
                  <a:srgbClr val="FFFF00"/>
                </a:solidFill>
                <a:highlight>
                  <a:srgbClr val="000080"/>
                </a:highlight>
              </a:rPr>
              <a:t> (Excel, Python, Dateiformate)</a:t>
            </a:r>
          </a:p>
          <a:p>
            <a:endParaRPr lang="de-DE" sz="500" dirty="0"/>
          </a:p>
          <a:p>
            <a:r>
              <a:rPr lang="de-DE" sz="1200" dirty="0"/>
              <a:t>Erstellung eines Logfile-Simulators für eine Industrie-Reale Simulation (</a:t>
            </a:r>
            <a:r>
              <a:rPr lang="de-DE" sz="1200" i="1" dirty="0"/>
              <a:t>Customterorder- &amp; Issue- Simulator</a:t>
            </a:r>
            <a:r>
              <a:rPr lang="de-DE" sz="1200" dirty="0"/>
              <a:t>) zwecks Software-Optimierungsprozesse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D2740D4-AD1A-1E53-B769-108273F38680}"/>
              </a:ext>
            </a:extLst>
          </p:cNvPr>
          <p:cNvSpPr txBox="1"/>
          <p:nvPr/>
        </p:nvSpPr>
        <p:spPr>
          <a:xfrm>
            <a:off x="638352" y="5904264"/>
            <a:ext cx="1104253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  <a:highlight>
                  <a:srgbClr val="000080"/>
                </a:highlight>
              </a:rPr>
              <a:t>4.) Kunden-Endprodukt (Website, Dashboard-Implementierung, Interaktives)  </a:t>
            </a:r>
            <a:r>
              <a:rPr lang="de-DE" sz="1050" dirty="0">
                <a:solidFill>
                  <a:srgbClr val="FFFF00"/>
                </a:solidFill>
                <a:highlight>
                  <a:srgbClr val="000080"/>
                </a:highlight>
              </a:rPr>
              <a:t>(Python-Streamlit, AWS, EC2, IP-Config, S3)</a:t>
            </a:r>
          </a:p>
          <a:p>
            <a:endParaRPr lang="de-DE" sz="500" dirty="0"/>
          </a:p>
          <a:p>
            <a:r>
              <a:rPr lang="de-DE" sz="1200" dirty="0"/>
              <a:t>Website-Erstellung, interaktive Funktionsprozesse </a:t>
            </a:r>
            <a:r>
              <a:rPr lang="de-DE" sz="1200" dirty="0" err="1"/>
              <a:t>ect.</a:t>
            </a:r>
            <a:endParaRPr lang="de-DE" sz="1200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C8355BB-DA93-4D5D-359F-D0781638CDB3}"/>
              </a:ext>
            </a:extLst>
          </p:cNvPr>
          <p:cNvSpPr txBox="1">
            <a:spLocks/>
          </p:cNvSpPr>
          <p:nvPr/>
        </p:nvSpPr>
        <p:spPr>
          <a:xfrm>
            <a:off x="494351" y="733920"/>
            <a:ext cx="5207709" cy="8156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800" b="1" u="sng">
                <a:latin typeface="+mj-lt"/>
                <a:ea typeface="+mj-ea"/>
                <a:cs typeface="+mj-cs"/>
              </a:defRPr>
            </a:lvl1pPr>
          </a:lstStyle>
          <a:p>
            <a:r>
              <a:rPr lang="de-DE" sz="3600" dirty="0"/>
              <a:t>DSI-Lernanwendungen</a:t>
            </a:r>
          </a:p>
        </p:txBody>
      </p:sp>
    </p:spTree>
    <p:extLst>
      <p:ext uri="{BB962C8B-B14F-4D97-AF65-F5344CB8AC3E}">
        <p14:creationId xmlns:p14="http://schemas.microsoft.com/office/powerpoint/2010/main" val="2708189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Breitbild</PresentationFormat>
  <Paragraphs>70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Insight Log-Data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Michaelis</dc:creator>
  <cp:lastModifiedBy>Marco Michaelis</cp:lastModifiedBy>
  <cp:revision>106</cp:revision>
  <dcterms:created xsi:type="dcterms:W3CDTF">2026-03-02T05:44:05Z</dcterms:created>
  <dcterms:modified xsi:type="dcterms:W3CDTF">2026-03-05T11:17:45Z</dcterms:modified>
</cp:coreProperties>
</file>