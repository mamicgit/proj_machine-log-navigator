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7" r:id="rId3"/>
    <p:sldId id="270" r:id="rId4"/>
    <p:sldId id="263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28201E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439915-3FD1-4353-89A4-B2EBCDE59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917496-4F7F-43A6-EAFB-F146E0B20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1F0A-FE1D-4E13-0BCF-F10A9ACDD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BF892C-1FBC-0D28-5004-545C091D3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4B331D-5ACF-2B45-99C0-69FCE13CD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018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4E63B-B72D-B545-DD40-897F4B449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1FEFB-3DD0-31B1-A133-D50672829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C01F79-21BC-4EFA-9B35-46A5DD999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387393-F257-11E9-8DBE-ABE6E2EB8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1886FE-46A1-C011-D62E-076F296DE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138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A7D93-32A2-F4E7-17CF-535CBA2C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1061A8-8865-ED8D-4F6D-47E132E41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B5CF9F-47E0-E44E-30EC-D5F3B1A13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BC8205-1044-9765-CDF0-546447E0E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3EE353-2179-62FB-B3A0-F01613850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05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B49E2D-C855-09C1-2B16-51425AF87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E03223-410B-7E81-280C-F13AA86EA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6F73A9-C7FF-492E-6553-CD219745F6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E6B3BA-246C-FFCB-CCBF-1CBBF7DB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A68AB5-F3D6-8544-596C-376B8B10C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201D69-A8FB-097F-499D-EC6C2C481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3329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0996BB-F7CA-108B-5F39-D5A929984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E93CE2-E899-C0F0-9C2C-E8EF59165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C8DDFD-E01A-F4FF-0A9F-62885D7C8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60E07E6-3F98-A8CC-0C13-AF73F7CA85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03C81C2-6480-5D77-5260-1CF4A0A44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D3A5D4-8A20-F442-40B0-63FE1A52D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4F6ECD-2318-944A-3174-801C243FF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35F21F8-E74B-4C15-E5C4-A5BAE59FB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081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1CCA7-ADEA-9D49-923B-2DE01536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FE90FFA-33FC-65AE-CA57-DE211E6E9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AAEC79-347A-B252-0893-E977677A6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A71F92-5E8B-65F1-D587-D2BBE0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583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982A473-17AC-7FBA-DBCA-DA9CF878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F17A183-AF26-B8E5-7006-25E9BC625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585372-C4AF-62D1-B723-3C30F0D63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63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5CEB8C-8F30-7E2C-FF4D-01749026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F526C7-9E88-0A66-8CE5-95F0151E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3BB31D-1189-CC93-A9BF-7AF3570528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AACB00-3B52-3FDF-039D-AFF7F3101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5315A3-7775-CE03-39EB-09C54FA78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BB5D43D-7713-8584-2A3A-36659C7B4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215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FD8A70-680C-DF95-BD43-2AC19D609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F3F389-5136-1F2E-DFD1-19264B42EA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F7D270-226F-A713-AA6F-E5A540520A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FF5DAB-AE90-67CF-45E5-BAAC309DA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AE74C94-71B1-C69A-24D8-CDC7CC67D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3B6898-C8E7-1E22-9298-C8B094491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3245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80DE0-7A8B-37FC-7F48-A57BE3EA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8F6A66-B5B3-0DC5-53B7-D2018CF77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F09CFA-7F4C-3928-11DF-438464C9F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8E3CBA-90B8-62B9-B2B3-6CCF742F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52C08F-DCB1-02D3-F03B-42B9EC347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6267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46E3F-CB8C-71A3-DC1E-91C44D6377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2E2000-38CE-7E3F-3177-F9474FBEB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2FFB55-8814-36CF-EA3A-44AB8149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8CC73-5F53-B0BE-9161-A6181F1F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AFEBD1-AB1B-87DB-9B54-BF08A4AD0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8395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9E5CACB-B026-99C2-A7CE-78636205D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9E3BF3-8522-1B23-66DD-BD08E945E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9BE5BB-2767-BCDD-B81F-A7F530B77A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64887-1312-4A4A-8E43-383F23D240A8}" type="datetimeFigureOut">
              <a:rPr lang="de-DE" smtClean="0"/>
              <a:t>07. Apr.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DA965B-17B7-1871-1878-34821FBBF3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D283CC-DEA5-185C-9E41-3A1EF4574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6335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D086BD31-E1BC-F4DD-4E33-A5E391CC4652}"/>
              </a:ext>
            </a:extLst>
          </p:cNvPr>
          <p:cNvSpPr txBox="1"/>
          <p:nvPr/>
        </p:nvSpPr>
        <p:spPr>
          <a:xfrm>
            <a:off x="1699444" y="903597"/>
            <a:ext cx="87931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solidFill>
                  <a:schemeClr val="bg1"/>
                </a:solidFill>
                <a:highlight>
                  <a:srgbClr val="000080"/>
                </a:highlight>
              </a:rPr>
              <a:t>„</a:t>
            </a:r>
            <a:r>
              <a:rPr lang="de-DE" sz="5400" dirty="0" err="1">
                <a:solidFill>
                  <a:schemeClr val="bg1"/>
                </a:solidFill>
                <a:highlight>
                  <a:srgbClr val="000080"/>
                </a:highlight>
              </a:rPr>
              <a:t>Machine</a:t>
            </a:r>
            <a:r>
              <a:rPr lang="de-DE" sz="5400" dirty="0">
                <a:solidFill>
                  <a:schemeClr val="bg1"/>
                </a:solidFill>
                <a:highlight>
                  <a:srgbClr val="000080"/>
                </a:highlight>
              </a:rPr>
              <a:t>-Log-Navigator“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0DE56D0-5282-95A4-D998-16FFAD3F2473}"/>
              </a:ext>
            </a:extLst>
          </p:cNvPr>
          <p:cNvSpPr txBox="1"/>
          <p:nvPr/>
        </p:nvSpPr>
        <p:spPr>
          <a:xfrm>
            <a:off x="2718756" y="1803126"/>
            <a:ext cx="67544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b="1" i="1" dirty="0"/>
              <a:t>DSI - Abschlußprojekt Team:   </a:t>
            </a:r>
            <a:r>
              <a:rPr lang="de-DE" sz="1100" i="1" dirty="0"/>
              <a:t>Michael Schipper, Mohamad Esber, Marco Michaelis | Date: April 2026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4EFF53-F7EA-3888-22B7-6D62D44087C2}"/>
              </a:ext>
            </a:extLst>
          </p:cNvPr>
          <p:cNvSpPr txBox="1"/>
          <p:nvPr/>
        </p:nvSpPr>
        <p:spPr>
          <a:xfrm>
            <a:off x="428624" y="2144334"/>
            <a:ext cx="11334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b="1" dirty="0">
                <a:solidFill>
                  <a:schemeClr val="accent3">
                    <a:lumMod val="50000"/>
                  </a:schemeClr>
                </a:solidFill>
              </a:rPr>
              <a:t>Logfilegenerator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7E3311E-C613-1E96-3078-F8DEEF8B77F3}"/>
              </a:ext>
            </a:extLst>
          </p:cNvPr>
          <p:cNvSpPr txBox="1"/>
          <p:nvPr/>
        </p:nvSpPr>
        <p:spPr>
          <a:xfrm>
            <a:off x="4479510" y="3379307"/>
            <a:ext cx="32329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solidFill>
                  <a:schemeClr val="bg1"/>
                </a:solidFill>
                <a:highlight>
                  <a:srgbClr val="008000"/>
                </a:highlight>
              </a:rPr>
              <a:t>Milestone-Ziel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342012D-4DAF-7C45-AAA7-A82F96E1B898}"/>
              </a:ext>
            </a:extLst>
          </p:cNvPr>
          <p:cNvSpPr txBox="1"/>
          <p:nvPr/>
        </p:nvSpPr>
        <p:spPr>
          <a:xfrm>
            <a:off x="1514399" y="4224259"/>
            <a:ext cx="9163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Jeder neue Durchlauf des Codes erzeugt ein neues Logfile mit neuen Daten-Konstellationen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3F62C12-57DF-0149-FFB8-FE7709B34BAF}"/>
              </a:ext>
            </a:extLst>
          </p:cNvPr>
          <p:cNvSpPr txBox="1"/>
          <p:nvPr/>
        </p:nvSpPr>
        <p:spPr>
          <a:xfrm>
            <a:off x="1788335" y="4962923"/>
            <a:ext cx="28728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dirty="0"/>
              <a:t>Verwendung </a:t>
            </a:r>
          </a:p>
          <a:p>
            <a:pPr algn="r"/>
            <a:r>
              <a:rPr lang="de-DE" dirty="0"/>
              <a:t>für das Projekt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678866E-B7AF-500A-19CB-A71C9BC90941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6095997" y="3964082"/>
            <a:ext cx="3" cy="2601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84A25806-E66E-BF0F-7D5B-3A489B76BA3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4661199" y="4593591"/>
            <a:ext cx="1434801" cy="4756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0FEBDAA-F657-C3D9-FB13-3919CEEA308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6096000" y="4593591"/>
            <a:ext cx="1552309" cy="475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5D68DE34-EBEE-5855-A374-6A72041C6110}"/>
              </a:ext>
            </a:extLst>
          </p:cNvPr>
          <p:cNvSpPr txBox="1"/>
          <p:nvPr/>
        </p:nvSpPr>
        <p:spPr>
          <a:xfrm>
            <a:off x="7648309" y="4962923"/>
            <a:ext cx="29340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Verwendung für Entwickler zur Maschinenoptimierung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3CD9A18A-F69A-5E95-F189-DC6524DFA9CC}"/>
              </a:ext>
            </a:extLst>
          </p:cNvPr>
          <p:cNvSpPr txBox="1"/>
          <p:nvPr/>
        </p:nvSpPr>
        <p:spPr>
          <a:xfrm>
            <a:off x="4146506" y="2891029"/>
            <a:ext cx="3898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/>
              <a:t>Erzeugen von Real-Life-</a:t>
            </a:r>
            <a:r>
              <a:rPr lang="de-DE" dirty="0" err="1"/>
              <a:t>Scenarien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8981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FC6CF400-FCED-1605-DCB5-9C13991A0F5A}"/>
              </a:ext>
            </a:extLst>
          </p:cNvPr>
          <p:cNvSpPr/>
          <p:nvPr/>
        </p:nvSpPr>
        <p:spPr>
          <a:xfrm>
            <a:off x="4713740" y="1825248"/>
            <a:ext cx="3593848" cy="1312379"/>
          </a:xfrm>
          <a:prstGeom prst="rect">
            <a:avLst/>
          </a:prstGeom>
          <a:solidFill>
            <a:schemeClr val="bg1">
              <a:lumMod val="85000"/>
              <a:alpha val="23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6C2C856-C246-B5B3-1024-307E33157E90}"/>
              </a:ext>
            </a:extLst>
          </p:cNvPr>
          <p:cNvSpPr txBox="1"/>
          <p:nvPr/>
        </p:nvSpPr>
        <p:spPr>
          <a:xfrm>
            <a:off x="9536556" y="1538213"/>
            <a:ext cx="13295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/>
              <a:t>Scanner liest Bestellbarcode-ID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C7F62CA-78AB-FCFD-17C0-D5867A34FA10}"/>
              </a:ext>
            </a:extLst>
          </p:cNvPr>
          <p:cNvSpPr/>
          <p:nvPr/>
        </p:nvSpPr>
        <p:spPr>
          <a:xfrm rot="21295450">
            <a:off x="489593" y="3892326"/>
            <a:ext cx="10810431" cy="330687"/>
          </a:xfrm>
          <a:prstGeom prst="rect">
            <a:avLst/>
          </a:prstGeom>
          <a:solidFill>
            <a:srgbClr val="2820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2723B3F-4EB5-DDD4-74B4-0F2259001371}"/>
              </a:ext>
            </a:extLst>
          </p:cNvPr>
          <p:cNvSpPr/>
          <p:nvPr/>
        </p:nvSpPr>
        <p:spPr>
          <a:xfrm rot="16200000">
            <a:off x="1792023" y="4651420"/>
            <a:ext cx="1117602" cy="330687"/>
          </a:xfrm>
          <a:prstGeom prst="rect">
            <a:avLst/>
          </a:prstGeom>
          <a:solidFill>
            <a:srgbClr val="2820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8A04283-0B39-2252-3ACF-9E557F8ADC1E}"/>
              </a:ext>
            </a:extLst>
          </p:cNvPr>
          <p:cNvSpPr/>
          <p:nvPr/>
        </p:nvSpPr>
        <p:spPr>
          <a:xfrm>
            <a:off x="1483511" y="5184063"/>
            <a:ext cx="1853582" cy="942109"/>
          </a:xfrm>
          <a:prstGeom prst="rect">
            <a:avLst/>
          </a:prstGeom>
          <a:solidFill>
            <a:srgbClr val="0033CC"/>
          </a:solidFill>
          <a:ln w="349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Qualitätsstation</a:t>
            </a:r>
          </a:p>
          <a:p>
            <a:pPr algn="ctr"/>
            <a:r>
              <a:rPr lang="de-DE" dirty="0"/>
              <a:t>Inhalt prüfen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A18EFB3-F57E-9178-152C-2939DCB86267}"/>
              </a:ext>
            </a:extLst>
          </p:cNvPr>
          <p:cNvCxnSpPr>
            <a:cxnSpLocks/>
          </p:cNvCxnSpPr>
          <p:nvPr/>
        </p:nvCxnSpPr>
        <p:spPr>
          <a:xfrm flipH="1">
            <a:off x="1627610" y="4378740"/>
            <a:ext cx="462620" cy="41379"/>
          </a:xfrm>
          <a:prstGeom prst="straightConnector1">
            <a:avLst/>
          </a:prstGeom>
          <a:ln w="25400">
            <a:solidFill>
              <a:srgbClr val="00FF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F993F038-96B5-28AC-19DB-199A2015773E}"/>
              </a:ext>
            </a:extLst>
          </p:cNvPr>
          <p:cNvCxnSpPr>
            <a:cxnSpLocks/>
          </p:cNvCxnSpPr>
          <p:nvPr/>
        </p:nvCxnSpPr>
        <p:spPr>
          <a:xfrm>
            <a:off x="2349805" y="4559630"/>
            <a:ext cx="0" cy="514266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848B2089-9543-F77C-0072-AC9361385C6D}"/>
              </a:ext>
            </a:extLst>
          </p:cNvPr>
          <p:cNvCxnSpPr>
            <a:cxnSpLocks/>
          </p:cNvCxnSpPr>
          <p:nvPr/>
        </p:nvCxnSpPr>
        <p:spPr>
          <a:xfrm>
            <a:off x="2354730" y="3774511"/>
            <a:ext cx="0" cy="41822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06E67DA9-E8D0-3A40-DBB4-FC0438591899}"/>
              </a:ext>
            </a:extLst>
          </p:cNvPr>
          <p:cNvSpPr txBox="1"/>
          <p:nvPr/>
        </p:nvSpPr>
        <p:spPr>
          <a:xfrm>
            <a:off x="1378311" y="2964391"/>
            <a:ext cx="211512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sz="1400" b="1" dirty="0" err="1">
                <a:solidFill>
                  <a:srgbClr val="FF0000"/>
                </a:solidFill>
              </a:rPr>
              <a:t>Kickout</a:t>
            </a:r>
            <a:r>
              <a:rPr lang="de-DE" sz="1400" b="1" dirty="0">
                <a:solidFill>
                  <a:srgbClr val="FF0000"/>
                </a:solidFill>
              </a:rPr>
              <a:t> (KO)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4888D6D-EBE0-A4CF-E266-6CF6B03693F4}"/>
              </a:ext>
            </a:extLst>
          </p:cNvPr>
          <p:cNvSpPr txBox="1"/>
          <p:nvPr/>
        </p:nvSpPr>
        <p:spPr>
          <a:xfrm>
            <a:off x="526473" y="202680"/>
            <a:ext cx="110965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>
                <a:solidFill>
                  <a:schemeClr val="bg1"/>
                </a:solidFill>
                <a:highlight>
                  <a:srgbClr val="008000"/>
                </a:highlight>
              </a:rPr>
              <a:t>Projekt-Ziele</a:t>
            </a:r>
            <a:r>
              <a:rPr lang="de-DE" sz="3200" dirty="0"/>
              <a:t>  </a:t>
            </a:r>
            <a:r>
              <a:rPr lang="de-DE" sz="2000" dirty="0"/>
              <a:t>=  Kickoutprozess (</a:t>
            </a:r>
            <a:r>
              <a:rPr lang="de-DE" sz="2000" b="1" u="sng" dirty="0"/>
              <a:t>ML</a:t>
            </a:r>
            <a:r>
              <a:rPr lang="de-DE" sz="2000" dirty="0"/>
              <a:t>)   &amp;    Logdatenanalyse (</a:t>
            </a:r>
            <a:r>
              <a:rPr lang="de-DE" sz="2000" b="1" u="sng" dirty="0"/>
              <a:t>Dashboard</a:t>
            </a:r>
            <a:r>
              <a:rPr lang="de-DE" sz="2000" dirty="0"/>
              <a:t>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00DEFC9-CC83-3A00-0632-55559A6839A9}"/>
              </a:ext>
            </a:extLst>
          </p:cNvPr>
          <p:cNvSpPr txBox="1"/>
          <p:nvPr/>
        </p:nvSpPr>
        <p:spPr>
          <a:xfrm>
            <a:off x="1160009" y="3289223"/>
            <a:ext cx="2571653" cy="284693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lang="de-DE" sz="1250" dirty="0">
                <a:solidFill>
                  <a:schemeClr val="bg1"/>
                </a:solidFill>
              </a:rPr>
              <a:t>möglicherweise Paketinhalt falsch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2B059B3F-98BA-70D7-2259-7E2915206A0C}"/>
              </a:ext>
            </a:extLst>
          </p:cNvPr>
          <p:cNvCxnSpPr>
            <a:cxnSpLocks/>
          </p:cNvCxnSpPr>
          <p:nvPr/>
        </p:nvCxnSpPr>
        <p:spPr>
          <a:xfrm>
            <a:off x="8016607" y="3713735"/>
            <a:ext cx="501997" cy="272045"/>
          </a:xfrm>
          <a:prstGeom prst="line">
            <a:avLst/>
          </a:prstGeom>
          <a:ln w="317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68F36481-3C13-4E21-9997-71A655722C70}"/>
              </a:ext>
            </a:extLst>
          </p:cNvPr>
          <p:cNvCxnSpPr>
            <a:cxnSpLocks/>
          </p:cNvCxnSpPr>
          <p:nvPr/>
        </p:nvCxnSpPr>
        <p:spPr>
          <a:xfrm flipV="1">
            <a:off x="8497395" y="3896070"/>
            <a:ext cx="824709" cy="86535"/>
          </a:xfrm>
          <a:prstGeom prst="line">
            <a:avLst/>
          </a:prstGeom>
          <a:ln w="317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FE678EC3-F136-4A6C-4B36-20F94608F791}"/>
              </a:ext>
            </a:extLst>
          </p:cNvPr>
          <p:cNvCxnSpPr>
            <a:cxnSpLocks/>
          </p:cNvCxnSpPr>
          <p:nvPr/>
        </p:nvCxnSpPr>
        <p:spPr>
          <a:xfrm>
            <a:off x="8803794" y="3626255"/>
            <a:ext cx="518310" cy="266640"/>
          </a:xfrm>
          <a:prstGeom prst="line">
            <a:avLst/>
          </a:prstGeom>
          <a:ln w="317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F9262353-A53A-7AD7-B628-9FFF001B99C6}"/>
              </a:ext>
            </a:extLst>
          </p:cNvPr>
          <p:cNvCxnSpPr>
            <a:cxnSpLocks/>
          </p:cNvCxnSpPr>
          <p:nvPr/>
        </p:nvCxnSpPr>
        <p:spPr>
          <a:xfrm flipV="1">
            <a:off x="8016607" y="3635268"/>
            <a:ext cx="796423" cy="69454"/>
          </a:xfrm>
          <a:prstGeom prst="line">
            <a:avLst/>
          </a:prstGeom>
          <a:ln w="317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9D3A7D31-872C-A00A-CF39-AC8B0432472C}"/>
              </a:ext>
            </a:extLst>
          </p:cNvPr>
          <p:cNvSpPr txBox="1"/>
          <p:nvPr/>
        </p:nvSpPr>
        <p:spPr>
          <a:xfrm rot="21093312">
            <a:off x="8444558" y="3895962"/>
            <a:ext cx="1117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FF00"/>
                </a:solidFill>
              </a:rPr>
              <a:t>WAAGE</a:t>
            </a:r>
          </a:p>
        </p:txBody>
      </p:sp>
      <p:sp>
        <p:nvSpPr>
          <p:cNvPr id="10" name="Pfeil: gestreift nach rechts 9">
            <a:extLst>
              <a:ext uri="{FF2B5EF4-FFF2-40B4-BE49-F238E27FC236}">
                <a16:creationId xmlns:a16="http://schemas.microsoft.com/office/drawing/2014/main" id="{464474A5-66D7-9991-26A0-7987FB26CDB6}"/>
              </a:ext>
            </a:extLst>
          </p:cNvPr>
          <p:cNvSpPr/>
          <p:nvPr/>
        </p:nvSpPr>
        <p:spPr>
          <a:xfrm rot="21301293" flipH="1">
            <a:off x="10708118" y="3408830"/>
            <a:ext cx="1003849" cy="333439"/>
          </a:xfrm>
          <a:prstGeom prst="stripedRightArrow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chemeClr val="bg1">
                    <a:lumMod val="65000"/>
                  </a:schemeClr>
                </a:solidFill>
              </a:rPr>
              <a:t>Förderband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849860B-1EA1-FFDD-12BA-2F9C4E1BDB08}"/>
              </a:ext>
            </a:extLst>
          </p:cNvPr>
          <p:cNvSpPr txBox="1"/>
          <p:nvPr/>
        </p:nvSpPr>
        <p:spPr>
          <a:xfrm>
            <a:off x="299703" y="2380067"/>
            <a:ext cx="24619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0B050"/>
                </a:solidFill>
              </a:rPr>
              <a:t>Gewichtsdifferenz passt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50534AD5-CB3C-4F27-C10A-94563C33117A}"/>
              </a:ext>
            </a:extLst>
          </p:cNvPr>
          <p:cNvSpPr/>
          <p:nvPr/>
        </p:nvSpPr>
        <p:spPr>
          <a:xfrm>
            <a:off x="4486427" y="1310809"/>
            <a:ext cx="4956249" cy="3131636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12539889-9601-562C-8507-A9205A161A19}"/>
              </a:ext>
            </a:extLst>
          </p:cNvPr>
          <p:cNvSpPr/>
          <p:nvPr/>
        </p:nvSpPr>
        <p:spPr>
          <a:xfrm>
            <a:off x="5730839" y="1901786"/>
            <a:ext cx="676351" cy="66462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2647B621-73A9-8899-D985-08BB4AF34B4D}"/>
              </a:ext>
            </a:extLst>
          </p:cNvPr>
          <p:cNvSpPr txBox="1"/>
          <p:nvPr/>
        </p:nvSpPr>
        <p:spPr>
          <a:xfrm>
            <a:off x="4403623" y="1292905"/>
            <a:ext cx="18157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highlight>
                  <a:srgbClr val="00FF00"/>
                </a:highlight>
              </a:rPr>
              <a:t>Logfile-Erzeugung</a:t>
            </a:r>
            <a:endParaRPr lang="de-DE" sz="1400" dirty="0">
              <a:highlight>
                <a:srgbClr val="00FF00"/>
              </a:highlight>
            </a:endParaRPr>
          </a:p>
        </p:txBody>
      </p:sp>
      <p:pic>
        <p:nvPicPr>
          <p:cNvPr id="57" name="Grafik 56">
            <a:extLst>
              <a:ext uri="{FF2B5EF4-FFF2-40B4-BE49-F238E27FC236}">
                <a16:creationId xmlns:a16="http://schemas.microsoft.com/office/drawing/2014/main" id="{3E336A0C-F2F5-493E-3920-917FA1312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99" y="3812973"/>
            <a:ext cx="701555" cy="495215"/>
          </a:xfrm>
          <a:prstGeom prst="rect">
            <a:avLst/>
          </a:prstGeom>
        </p:spPr>
      </p:pic>
      <p:pic>
        <p:nvPicPr>
          <p:cNvPr id="58" name="Grafik 57">
            <a:extLst>
              <a:ext uri="{FF2B5EF4-FFF2-40B4-BE49-F238E27FC236}">
                <a16:creationId xmlns:a16="http://schemas.microsoft.com/office/drawing/2014/main" id="{CED546AA-F452-D879-AB61-C8DCFBE41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745" y="3531351"/>
            <a:ext cx="678674" cy="47906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8529B105-C789-DB9C-1886-7056313EC534}"/>
              </a:ext>
            </a:extLst>
          </p:cNvPr>
          <p:cNvSpPr/>
          <p:nvPr/>
        </p:nvSpPr>
        <p:spPr>
          <a:xfrm>
            <a:off x="5196920" y="3468915"/>
            <a:ext cx="45719" cy="33035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F8F4C57A-7404-CEF7-7E1E-6A669C683A64}"/>
              </a:ext>
            </a:extLst>
          </p:cNvPr>
          <p:cNvSpPr/>
          <p:nvPr/>
        </p:nvSpPr>
        <p:spPr>
          <a:xfrm rot="5400000">
            <a:off x="5190163" y="3680075"/>
            <a:ext cx="61750" cy="2657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3" name="Grafik 62">
            <a:extLst>
              <a:ext uri="{FF2B5EF4-FFF2-40B4-BE49-F238E27FC236}">
                <a16:creationId xmlns:a16="http://schemas.microsoft.com/office/drawing/2014/main" id="{F0F38478-C862-5637-03F8-BD6690A80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160" y="3704722"/>
            <a:ext cx="678674" cy="479064"/>
          </a:xfrm>
          <a:prstGeom prst="rect">
            <a:avLst/>
          </a:prstGeom>
        </p:spPr>
      </p:pic>
      <p:sp>
        <p:nvSpPr>
          <p:cNvPr id="64" name="Textfeld 63">
            <a:extLst>
              <a:ext uri="{FF2B5EF4-FFF2-40B4-BE49-F238E27FC236}">
                <a16:creationId xmlns:a16="http://schemas.microsoft.com/office/drawing/2014/main" id="{42301193-ED65-8936-0906-8E5F9CE03867}"/>
              </a:ext>
            </a:extLst>
          </p:cNvPr>
          <p:cNvSpPr txBox="1"/>
          <p:nvPr/>
        </p:nvSpPr>
        <p:spPr>
          <a:xfrm>
            <a:off x="4670435" y="3280589"/>
            <a:ext cx="11414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/>
              <a:t>Adressaufkleber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02AD7BE-CB82-D89C-A647-526B9B1B3C23}"/>
              </a:ext>
            </a:extLst>
          </p:cNvPr>
          <p:cNvSpPr txBox="1"/>
          <p:nvPr/>
        </p:nvSpPr>
        <p:spPr>
          <a:xfrm>
            <a:off x="6349597" y="2121213"/>
            <a:ext cx="1342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/>
              <a:t>← Sticker-Rollen →</a:t>
            </a:r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A91B2873-38C5-1E20-56A2-09B28364B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99" y="4254223"/>
            <a:ext cx="701555" cy="495215"/>
          </a:xfrm>
          <a:prstGeom prst="rect">
            <a:avLst/>
          </a:prstGeom>
        </p:spPr>
      </p:pic>
      <p:pic>
        <p:nvPicPr>
          <p:cNvPr id="69" name="Grafik 68">
            <a:extLst>
              <a:ext uri="{FF2B5EF4-FFF2-40B4-BE49-F238E27FC236}">
                <a16:creationId xmlns:a16="http://schemas.microsoft.com/office/drawing/2014/main" id="{79C8812A-D0BF-8FAC-13A3-3774DB0DB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2989" y="3398923"/>
            <a:ext cx="678674" cy="47906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8DE02FD1-19AD-2EA8-6777-69A1AC764F7F}"/>
              </a:ext>
            </a:extLst>
          </p:cNvPr>
          <p:cNvSpPr/>
          <p:nvPr/>
        </p:nvSpPr>
        <p:spPr>
          <a:xfrm>
            <a:off x="9999499" y="1931885"/>
            <a:ext cx="433217" cy="163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4500EF2-AC51-CCFB-78BF-951BF4842FD9}"/>
              </a:ext>
            </a:extLst>
          </p:cNvPr>
          <p:cNvCxnSpPr>
            <a:cxnSpLocks/>
            <a:stCxn id="70" idx="2"/>
          </p:cNvCxnSpPr>
          <p:nvPr/>
        </p:nvCxnSpPr>
        <p:spPr>
          <a:xfrm flipH="1">
            <a:off x="10143095" y="2095835"/>
            <a:ext cx="73013" cy="1270066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F9AC8C1-1151-13AF-7083-5C7A7ECDDCB0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>
            <a:off x="10216108" y="2095835"/>
            <a:ext cx="46218" cy="1303088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F5B753F-3EE0-EC65-9B5D-5FB80ABA0D26}"/>
              </a:ext>
            </a:extLst>
          </p:cNvPr>
          <p:cNvCxnSpPr>
            <a:cxnSpLocks/>
            <a:stCxn id="70" idx="2"/>
          </p:cNvCxnSpPr>
          <p:nvPr/>
        </p:nvCxnSpPr>
        <p:spPr>
          <a:xfrm>
            <a:off x="10216108" y="2095835"/>
            <a:ext cx="128843" cy="1254237"/>
          </a:xfrm>
          <a:prstGeom prst="line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E38919BF-411D-1B3A-6DC5-32542550B182}"/>
              </a:ext>
            </a:extLst>
          </p:cNvPr>
          <p:cNvCxnSpPr>
            <a:cxnSpLocks/>
          </p:cNvCxnSpPr>
          <p:nvPr/>
        </p:nvCxnSpPr>
        <p:spPr>
          <a:xfrm>
            <a:off x="7380715" y="692543"/>
            <a:ext cx="0" cy="569415"/>
          </a:xfrm>
          <a:prstGeom prst="straightConnector1">
            <a:avLst/>
          </a:prstGeom>
          <a:ln w="285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FE6820BF-A028-D55B-DD88-659734136C2A}"/>
              </a:ext>
            </a:extLst>
          </p:cNvPr>
          <p:cNvCxnSpPr>
            <a:cxnSpLocks/>
          </p:cNvCxnSpPr>
          <p:nvPr/>
        </p:nvCxnSpPr>
        <p:spPr>
          <a:xfrm flipH="1">
            <a:off x="3482455" y="749869"/>
            <a:ext cx="12666" cy="2083784"/>
          </a:xfrm>
          <a:prstGeom prst="straightConnector1">
            <a:avLst/>
          </a:prstGeom>
          <a:ln w="28575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E2B6967C-F9F2-C624-A86A-8B152EA2E826}"/>
              </a:ext>
            </a:extLst>
          </p:cNvPr>
          <p:cNvSpPr txBox="1"/>
          <p:nvPr/>
        </p:nvSpPr>
        <p:spPr>
          <a:xfrm rot="16200000">
            <a:off x="10596299" y="3100674"/>
            <a:ext cx="2542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65000"/>
                  </a:schemeClr>
                </a:solidFill>
              </a:rPr>
              <a:t>Pack-Arbeitsstationen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1AA1E61A-2934-1F91-4EEE-E75B2D144B5C}"/>
              </a:ext>
            </a:extLst>
          </p:cNvPr>
          <p:cNvSpPr txBox="1"/>
          <p:nvPr/>
        </p:nvSpPr>
        <p:spPr>
          <a:xfrm rot="16200000">
            <a:off x="-936780" y="3260068"/>
            <a:ext cx="2542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>
                    <a:lumMod val="65000"/>
                  </a:schemeClr>
                </a:solidFill>
              </a:rPr>
              <a:t>LKW - Verladung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86989C99-8040-57AA-8994-203FD2982CC6}"/>
              </a:ext>
            </a:extLst>
          </p:cNvPr>
          <p:cNvCxnSpPr>
            <a:cxnSpLocks/>
          </p:cNvCxnSpPr>
          <p:nvPr/>
        </p:nvCxnSpPr>
        <p:spPr>
          <a:xfrm flipH="1">
            <a:off x="2349805" y="2616654"/>
            <a:ext cx="3266749" cy="0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7EB2F9D6-9C7F-1D01-EA67-3198FCF752D6}"/>
              </a:ext>
            </a:extLst>
          </p:cNvPr>
          <p:cNvSpPr/>
          <p:nvPr/>
        </p:nvSpPr>
        <p:spPr>
          <a:xfrm>
            <a:off x="1098471" y="2882504"/>
            <a:ext cx="2696164" cy="3399527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A5168879-19E2-54CC-3CB2-5F19460B8FFD}"/>
              </a:ext>
            </a:extLst>
          </p:cNvPr>
          <p:cNvSpPr txBox="1"/>
          <p:nvPr/>
        </p:nvSpPr>
        <p:spPr>
          <a:xfrm>
            <a:off x="5948113" y="2571347"/>
            <a:ext cx="1986965" cy="600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de-DE" sz="1100" b="1" dirty="0">
                <a:solidFill>
                  <a:srgbClr val="C00000"/>
                </a:solidFill>
              </a:rPr>
              <a:t>Daten-Gewichtsabgleich: </a:t>
            </a:r>
          </a:p>
          <a:p>
            <a:r>
              <a:rPr lang="de-DE" sz="1100" dirty="0">
                <a:solidFill>
                  <a:srgbClr val="C00000"/>
                </a:solidFill>
              </a:rPr>
              <a:t>a) Gewicht der Waage mit</a:t>
            </a:r>
          </a:p>
          <a:p>
            <a:r>
              <a:rPr lang="de-DE" sz="1100" dirty="0">
                <a:solidFill>
                  <a:srgbClr val="C00000"/>
                </a:solidFill>
              </a:rPr>
              <a:t>b) theoretischem Gewicht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51215F56-0A42-6FE8-EBD4-5588CB7764ED}"/>
              </a:ext>
            </a:extLst>
          </p:cNvPr>
          <p:cNvSpPr txBox="1"/>
          <p:nvPr/>
        </p:nvSpPr>
        <p:spPr>
          <a:xfrm>
            <a:off x="4648522" y="1805750"/>
            <a:ext cx="16361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/>
              <a:t>Labelmaschine</a:t>
            </a:r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327C7C8B-D99E-17D1-8A24-2C6F3863996D}"/>
              </a:ext>
            </a:extLst>
          </p:cNvPr>
          <p:cNvCxnSpPr>
            <a:cxnSpLocks/>
          </p:cNvCxnSpPr>
          <p:nvPr/>
        </p:nvCxnSpPr>
        <p:spPr>
          <a:xfrm flipH="1" flipV="1">
            <a:off x="7837336" y="2931276"/>
            <a:ext cx="557409" cy="64427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0711243-D7AE-99CC-6970-230E07EFC132}"/>
              </a:ext>
            </a:extLst>
          </p:cNvPr>
          <p:cNvSpPr txBox="1"/>
          <p:nvPr/>
        </p:nvSpPr>
        <p:spPr>
          <a:xfrm rot="2923852">
            <a:off x="7681705" y="3135636"/>
            <a:ext cx="11563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i="1" dirty="0"/>
              <a:t>Kommunikation</a:t>
            </a:r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E084A15F-493E-7B1A-795C-56DC12BF3884}"/>
              </a:ext>
            </a:extLst>
          </p:cNvPr>
          <p:cNvSpPr/>
          <p:nvPr/>
        </p:nvSpPr>
        <p:spPr>
          <a:xfrm>
            <a:off x="7447524" y="1891171"/>
            <a:ext cx="676351" cy="66462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5FC271D4-11D3-BBEE-D417-B21E580D6DCB}"/>
              </a:ext>
            </a:extLst>
          </p:cNvPr>
          <p:cNvSpPr txBox="1"/>
          <p:nvPr/>
        </p:nvSpPr>
        <p:spPr>
          <a:xfrm>
            <a:off x="1715334" y="2867732"/>
            <a:ext cx="14953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</a:rPr>
              <a:t>Gewichtsdifferenz </a:t>
            </a:r>
          </a:p>
          <a:p>
            <a:pPr algn="ctr"/>
            <a:r>
              <a:rPr lang="de-DE" sz="1100" dirty="0">
                <a:solidFill>
                  <a:srgbClr val="C00000"/>
                </a:solidFill>
              </a:rPr>
              <a:t>passt </a:t>
            </a:r>
            <a:r>
              <a:rPr lang="de-DE" sz="1100" b="1" dirty="0">
                <a:solidFill>
                  <a:srgbClr val="C00000"/>
                </a:solidFill>
              </a:rPr>
              <a:t>NICHT</a:t>
            </a: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9A56873B-3CA9-7DB1-FB54-1D01BC50A117}"/>
              </a:ext>
            </a:extLst>
          </p:cNvPr>
          <p:cNvCxnSpPr>
            <a:cxnSpLocks/>
          </p:cNvCxnSpPr>
          <p:nvPr/>
        </p:nvCxnSpPr>
        <p:spPr>
          <a:xfrm flipH="1" flipV="1">
            <a:off x="681699" y="2607411"/>
            <a:ext cx="1588513" cy="0"/>
          </a:xfrm>
          <a:prstGeom prst="straightConnector1">
            <a:avLst/>
          </a:prstGeom>
          <a:ln w="22225">
            <a:solidFill>
              <a:srgbClr val="00FF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hteck 147">
            <a:extLst>
              <a:ext uri="{FF2B5EF4-FFF2-40B4-BE49-F238E27FC236}">
                <a16:creationId xmlns:a16="http://schemas.microsoft.com/office/drawing/2014/main" id="{5A3DED2A-C110-D866-1F8E-70B8AB9BBF42}"/>
              </a:ext>
            </a:extLst>
          </p:cNvPr>
          <p:cNvSpPr/>
          <p:nvPr/>
        </p:nvSpPr>
        <p:spPr>
          <a:xfrm>
            <a:off x="5188720" y="3012876"/>
            <a:ext cx="45719" cy="33035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C2DA8E77-2CF2-DF88-4916-F925A9C6FEF5}"/>
              </a:ext>
            </a:extLst>
          </p:cNvPr>
          <p:cNvCxnSpPr>
            <a:cxnSpLocks/>
          </p:cNvCxnSpPr>
          <p:nvPr/>
        </p:nvCxnSpPr>
        <p:spPr>
          <a:xfrm flipH="1">
            <a:off x="2611840" y="4303748"/>
            <a:ext cx="462620" cy="41379"/>
          </a:xfrm>
          <a:prstGeom prst="straightConnector1">
            <a:avLst/>
          </a:prstGeom>
          <a:ln w="25400">
            <a:solidFill>
              <a:schemeClr val="bg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 Verbindung mit Pfeil 153">
            <a:extLst>
              <a:ext uri="{FF2B5EF4-FFF2-40B4-BE49-F238E27FC236}">
                <a16:creationId xmlns:a16="http://schemas.microsoft.com/office/drawing/2014/main" id="{5FB93B3F-0F30-AB52-B330-80CF4A7B50AF}"/>
              </a:ext>
            </a:extLst>
          </p:cNvPr>
          <p:cNvCxnSpPr>
            <a:cxnSpLocks/>
          </p:cNvCxnSpPr>
          <p:nvPr/>
        </p:nvCxnSpPr>
        <p:spPr>
          <a:xfrm flipH="1">
            <a:off x="3574846" y="4206063"/>
            <a:ext cx="462620" cy="41379"/>
          </a:xfrm>
          <a:prstGeom prst="straightConnector1">
            <a:avLst/>
          </a:prstGeom>
          <a:ln w="25400">
            <a:solidFill>
              <a:schemeClr val="bg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Gerade Verbindung mit Pfeil 155">
            <a:extLst>
              <a:ext uri="{FF2B5EF4-FFF2-40B4-BE49-F238E27FC236}">
                <a16:creationId xmlns:a16="http://schemas.microsoft.com/office/drawing/2014/main" id="{FF7B35A2-5509-3879-585E-C88B62323F87}"/>
              </a:ext>
            </a:extLst>
          </p:cNvPr>
          <p:cNvCxnSpPr>
            <a:cxnSpLocks/>
          </p:cNvCxnSpPr>
          <p:nvPr/>
        </p:nvCxnSpPr>
        <p:spPr>
          <a:xfrm>
            <a:off x="2321230" y="2616654"/>
            <a:ext cx="0" cy="274191"/>
          </a:xfrm>
          <a:prstGeom prst="straightConnector1">
            <a:avLst/>
          </a:prstGeom>
          <a:ln w="22225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ADF44A1B-41F2-6042-F0FB-002F7B938C24}"/>
              </a:ext>
            </a:extLst>
          </p:cNvPr>
          <p:cNvCxnSpPr>
            <a:cxnSpLocks/>
          </p:cNvCxnSpPr>
          <p:nvPr/>
        </p:nvCxnSpPr>
        <p:spPr>
          <a:xfrm flipH="1" flipV="1">
            <a:off x="5633709" y="2621670"/>
            <a:ext cx="323929" cy="24023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Grafik 1">
            <a:extLst>
              <a:ext uri="{FF2B5EF4-FFF2-40B4-BE49-F238E27FC236}">
                <a16:creationId xmlns:a16="http://schemas.microsoft.com/office/drawing/2014/main" id="{D9BA12D6-1956-4452-83F2-8A41E822A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808" y="4782651"/>
            <a:ext cx="795747" cy="61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37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E876A137-CCC9-FF29-6B0E-23AA52B33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70308"/>
            <a:ext cx="9264770" cy="410969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BD589FB-3D50-CF9F-390B-9D2AE3367237}"/>
              </a:ext>
            </a:extLst>
          </p:cNvPr>
          <p:cNvSpPr txBox="1"/>
          <p:nvPr/>
        </p:nvSpPr>
        <p:spPr>
          <a:xfrm>
            <a:off x="1371600" y="910583"/>
            <a:ext cx="6991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Wie sieht so ein Logfile aus?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6F11A2E-8948-FEC7-CB94-3BF3E8A8BA54}"/>
              </a:ext>
            </a:extLst>
          </p:cNvPr>
          <p:cNvSpPr txBox="1"/>
          <p:nvPr/>
        </p:nvSpPr>
        <p:spPr>
          <a:xfrm rot="20058608">
            <a:off x="2687398" y="2811614"/>
            <a:ext cx="58519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rgbClr val="C00000"/>
                </a:solidFill>
              </a:rPr>
              <a:t>Ca. 5.000 Pakete erzeugen </a:t>
            </a:r>
          </a:p>
          <a:p>
            <a:r>
              <a:rPr lang="de-DE" sz="2800" b="1" dirty="0">
                <a:solidFill>
                  <a:srgbClr val="C00000"/>
                </a:solidFill>
              </a:rPr>
              <a:t>innerhalb 24h ca. 15k – 20k Zeilen</a:t>
            </a:r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37208F2-8657-D544-C3CA-90436DA056AA}"/>
              </a:ext>
            </a:extLst>
          </p:cNvPr>
          <p:cNvSpPr/>
          <p:nvPr/>
        </p:nvSpPr>
        <p:spPr>
          <a:xfrm rot="16200000">
            <a:off x="11472725" y="6153493"/>
            <a:ext cx="429545" cy="528032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Lupe mit einfarbiger Füllung">
            <a:extLst>
              <a:ext uri="{FF2B5EF4-FFF2-40B4-BE49-F238E27FC236}">
                <a16:creationId xmlns:a16="http://schemas.microsoft.com/office/drawing/2014/main" id="{B262D8B7-19D6-BD0A-B50C-3105D0B781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966169" y="6254092"/>
            <a:ext cx="440888" cy="429547"/>
          </a:xfrm>
          <a:prstGeom prst="rect">
            <a:avLst/>
          </a:prstGeom>
        </p:spPr>
      </p:pic>
      <p:sp>
        <p:nvSpPr>
          <p:cNvPr id="8" name="Additionszeichen 7">
            <a:extLst>
              <a:ext uri="{FF2B5EF4-FFF2-40B4-BE49-F238E27FC236}">
                <a16:creationId xmlns:a16="http://schemas.microsoft.com/office/drawing/2014/main" id="{826D59E6-C400-C675-7432-90B58024D615}"/>
              </a:ext>
            </a:extLst>
          </p:cNvPr>
          <p:cNvSpPr/>
          <p:nvPr/>
        </p:nvSpPr>
        <p:spPr>
          <a:xfrm>
            <a:off x="11152085" y="6332758"/>
            <a:ext cx="122952" cy="174956"/>
          </a:xfrm>
          <a:prstGeom prst="mathPlus">
            <a:avLst/>
          </a:prstGeom>
          <a:ln w="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559544C-04CC-B1CC-E21A-2D30087AF21A}"/>
              </a:ext>
            </a:extLst>
          </p:cNvPr>
          <p:cNvSpPr txBox="1"/>
          <p:nvPr/>
        </p:nvSpPr>
        <p:spPr>
          <a:xfrm>
            <a:off x="4533612" y="6615225"/>
            <a:ext cx="715850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800" dirty="0">
                <a:solidFill>
                  <a:srgbClr val="FF0000"/>
                </a:solidFill>
              </a:rPr>
              <a:t>Logfile wurde anhand eines eigenen Logfile-Generators verwendet, der verschiedene Real-Life Situationen  generiert</a:t>
            </a:r>
          </a:p>
        </p:txBody>
      </p:sp>
    </p:spTree>
    <p:extLst>
      <p:ext uri="{BB962C8B-B14F-4D97-AF65-F5344CB8AC3E}">
        <p14:creationId xmlns:p14="http://schemas.microsoft.com/office/powerpoint/2010/main" val="3243030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5DA710-7168-EB00-79B6-37454B75F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072" y="277771"/>
            <a:ext cx="10515600" cy="1325563"/>
          </a:xfrm>
        </p:spPr>
        <p:txBody>
          <a:bodyPr/>
          <a:lstStyle/>
          <a:p>
            <a:r>
              <a:rPr lang="de-DE" sz="2800" b="1" dirty="0">
                <a:solidFill>
                  <a:schemeClr val="bg1"/>
                </a:solidFill>
                <a:highlight>
                  <a:srgbClr val="008000"/>
                </a:highlight>
              </a:rPr>
              <a:t>Projekt-Basis</a:t>
            </a:r>
            <a:r>
              <a:rPr lang="de-DE" dirty="0"/>
              <a:t>        Insight </a:t>
            </a:r>
            <a:r>
              <a:rPr lang="de-DE" dirty="0">
                <a:highlight>
                  <a:srgbClr val="00FF00"/>
                </a:highlight>
              </a:rPr>
              <a:t>Log-Data</a:t>
            </a:r>
            <a:endParaRPr lang="de-DE" sz="11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B5B1C7A-542E-D029-CEB3-F2F7C8509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72" y="2572115"/>
            <a:ext cx="11260347" cy="1238209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C667D10-A414-B0A9-80D8-C5E3C9163BFB}"/>
              </a:ext>
            </a:extLst>
          </p:cNvPr>
          <p:cNvCxnSpPr>
            <a:cxnSpLocks/>
          </p:cNvCxnSpPr>
          <p:nvPr/>
        </p:nvCxnSpPr>
        <p:spPr>
          <a:xfrm flipH="1">
            <a:off x="726141" y="2048161"/>
            <a:ext cx="271386" cy="3935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1954C7B-F901-F892-F1BF-1C034AE3DEB0}"/>
              </a:ext>
            </a:extLst>
          </p:cNvPr>
          <p:cNvCxnSpPr>
            <a:cxnSpLocks/>
          </p:cNvCxnSpPr>
          <p:nvPr/>
        </p:nvCxnSpPr>
        <p:spPr>
          <a:xfrm>
            <a:off x="2105257" y="2060961"/>
            <a:ext cx="591761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77361E0-2EFF-D061-1E8C-F52D076B8DEB}"/>
              </a:ext>
            </a:extLst>
          </p:cNvPr>
          <p:cNvSpPr txBox="1"/>
          <p:nvPr/>
        </p:nvSpPr>
        <p:spPr>
          <a:xfrm>
            <a:off x="2003313" y="1841481"/>
            <a:ext cx="788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Priorität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3688DFC-30F4-96D0-0C28-44D2C9CB831A}"/>
              </a:ext>
            </a:extLst>
          </p:cNvPr>
          <p:cNvCxnSpPr>
            <a:cxnSpLocks/>
          </p:cNvCxnSpPr>
          <p:nvPr/>
        </p:nvCxnSpPr>
        <p:spPr>
          <a:xfrm flipH="1">
            <a:off x="1852286" y="2066023"/>
            <a:ext cx="252971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2E8C97D5-0B8D-2039-5E41-3AACA9D66653}"/>
              </a:ext>
            </a:extLst>
          </p:cNvPr>
          <p:cNvCxnSpPr>
            <a:cxnSpLocks/>
          </p:cNvCxnSpPr>
          <p:nvPr/>
        </p:nvCxnSpPr>
        <p:spPr>
          <a:xfrm>
            <a:off x="2991763" y="2057397"/>
            <a:ext cx="1229255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CE283432-2F39-2D20-2620-8FDF4AE640DB}"/>
              </a:ext>
            </a:extLst>
          </p:cNvPr>
          <p:cNvSpPr txBox="1"/>
          <p:nvPr/>
        </p:nvSpPr>
        <p:spPr>
          <a:xfrm>
            <a:off x="2723103" y="1832245"/>
            <a:ext cx="15989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Maschinenbereich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7F34625A-A1DB-E985-D65C-25FC42083237}"/>
              </a:ext>
            </a:extLst>
          </p:cNvPr>
          <p:cNvSpPr txBox="1"/>
          <p:nvPr/>
        </p:nvSpPr>
        <p:spPr>
          <a:xfrm>
            <a:off x="712684" y="1832245"/>
            <a:ext cx="1052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Timestamp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C056274-23DB-B81C-3878-BEBCB9EB13A9}"/>
              </a:ext>
            </a:extLst>
          </p:cNvPr>
          <p:cNvCxnSpPr>
            <a:cxnSpLocks/>
          </p:cNvCxnSpPr>
          <p:nvPr/>
        </p:nvCxnSpPr>
        <p:spPr>
          <a:xfrm flipH="1">
            <a:off x="1337395" y="2048161"/>
            <a:ext cx="269732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BF8638A-5F98-025B-0676-9BA18539D51D}"/>
              </a:ext>
            </a:extLst>
          </p:cNvPr>
          <p:cNvCxnSpPr>
            <a:cxnSpLocks/>
          </p:cNvCxnSpPr>
          <p:nvPr/>
        </p:nvCxnSpPr>
        <p:spPr>
          <a:xfrm>
            <a:off x="786572" y="2048161"/>
            <a:ext cx="1005283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F4310CE-F542-FA9E-CBD9-BA723708539D}"/>
              </a:ext>
            </a:extLst>
          </p:cNvPr>
          <p:cNvCxnSpPr>
            <a:cxnSpLocks/>
          </p:cNvCxnSpPr>
          <p:nvPr/>
        </p:nvCxnSpPr>
        <p:spPr>
          <a:xfrm flipH="1">
            <a:off x="2655666" y="2057397"/>
            <a:ext cx="336916" cy="4794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CC30585-3466-90EF-5E1D-7BF3B01C9673}"/>
              </a:ext>
            </a:extLst>
          </p:cNvPr>
          <p:cNvCxnSpPr>
            <a:cxnSpLocks/>
          </p:cNvCxnSpPr>
          <p:nvPr/>
        </p:nvCxnSpPr>
        <p:spPr>
          <a:xfrm flipH="1">
            <a:off x="4052560" y="2081424"/>
            <a:ext cx="334713" cy="529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399D439-86A4-19F6-50D2-7A472BD4038D}"/>
              </a:ext>
            </a:extLst>
          </p:cNvPr>
          <p:cNvCxnSpPr>
            <a:cxnSpLocks/>
          </p:cNvCxnSpPr>
          <p:nvPr/>
        </p:nvCxnSpPr>
        <p:spPr>
          <a:xfrm>
            <a:off x="6293765" y="2075884"/>
            <a:ext cx="5103908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F7664028-031C-EC25-49C7-F30529B1855C}"/>
              </a:ext>
            </a:extLst>
          </p:cNvPr>
          <p:cNvSpPr txBox="1"/>
          <p:nvPr/>
        </p:nvSpPr>
        <p:spPr>
          <a:xfrm>
            <a:off x="6289964" y="1827777"/>
            <a:ext cx="51758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Log-Details (hier Paket-, Scanner,- Gewichtsdaten)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A679DAB-6379-E91A-1158-20BCC0A650A0}"/>
              </a:ext>
            </a:extLst>
          </p:cNvPr>
          <p:cNvCxnSpPr>
            <a:cxnSpLocks/>
          </p:cNvCxnSpPr>
          <p:nvPr/>
        </p:nvCxnSpPr>
        <p:spPr>
          <a:xfrm>
            <a:off x="4387273" y="2081424"/>
            <a:ext cx="1679972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EF7C89CF-FA7C-8896-DB6B-598FFB4862FB}"/>
              </a:ext>
            </a:extLst>
          </p:cNvPr>
          <p:cNvSpPr txBox="1"/>
          <p:nvPr/>
        </p:nvSpPr>
        <p:spPr>
          <a:xfrm>
            <a:off x="4348125" y="1829125"/>
            <a:ext cx="1736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IT Sytem der Logsource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4DAC300-D027-93F7-F739-5C20810EE570}"/>
              </a:ext>
            </a:extLst>
          </p:cNvPr>
          <p:cNvCxnSpPr>
            <a:cxnSpLocks/>
          </p:cNvCxnSpPr>
          <p:nvPr/>
        </p:nvCxnSpPr>
        <p:spPr>
          <a:xfrm flipH="1">
            <a:off x="5925830" y="2081424"/>
            <a:ext cx="372760" cy="6247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fik 51">
            <a:extLst>
              <a:ext uri="{FF2B5EF4-FFF2-40B4-BE49-F238E27FC236}">
                <a16:creationId xmlns:a16="http://schemas.microsoft.com/office/drawing/2014/main" id="{62B0AEBD-0D4D-0C08-2A10-1A9F954BA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4464952"/>
            <a:ext cx="10447847" cy="1769450"/>
          </a:xfrm>
          <a:prstGeom prst="ellipse">
            <a:avLst/>
          </a:prstGeom>
          <a:ln w="952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33F90DC-3DA5-A1B5-6B60-792A878FEBEB}"/>
              </a:ext>
            </a:extLst>
          </p:cNvPr>
          <p:cNvCxnSpPr>
            <a:cxnSpLocks/>
            <a:stCxn id="70" idx="2"/>
          </p:cNvCxnSpPr>
          <p:nvPr/>
        </p:nvCxnSpPr>
        <p:spPr>
          <a:xfrm flipH="1">
            <a:off x="4059784" y="2912288"/>
            <a:ext cx="4659030" cy="212877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DD0AD0F0-7F62-1F4D-FC69-B6CBE32E429A}"/>
              </a:ext>
            </a:extLst>
          </p:cNvPr>
          <p:cNvCxnSpPr>
            <a:cxnSpLocks/>
          </p:cNvCxnSpPr>
          <p:nvPr/>
        </p:nvCxnSpPr>
        <p:spPr>
          <a:xfrm flipH="1">
            <a:off x="2498436" y="2872509"/>
            <a:ext cx="5361709" cy="2160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EC1B94E-CC4D-A246-E119-D8268372D6F5}"/>
              </a:ext>
            </a:extLst>
          </p:cNvPr>
          <p:cNvCxnSpPr>
            <a:cxnSpLocks/>
            <a:stCxn id="71" idx="2"/>
          </p:cNvCxnSpPr>
          <p:nvPr/>
        </p:nvCxnSpPr>
        <p:spPr>
          <a:xfrm flipH="1">
            <a:off x="5728748" y="2903052"/>
            <a:ext cx="3563213" cy="2158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AF5D3CC-026F-67A1-69CA-73FA136795BE}"/>
              </a:ext>
            </a:extLst>
          </p:cNvPr>
          <p:cNvCxnSpPr>
            <a:cxnSpLocks/>
          </p:cNvCxnSpPr>
          <p:nvPr/>
        </p:nvCxnSpPr>
        <p:spPr>
          <a:xfrm flipH="1">
            <a:off x="7325609" y="2918696"/>
            <a:ext cx="2513796" cy="21291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758D415-C2AC-69F9-C65A-F35D727E4BA6}"/>
              </a:ext>
            </a:extLst>
          </p:cNvPr>
          <p:cNvCxnSpPr>
            <a:cxnSpLocks/>
          </p:cNvCxnSpPr>
          <p:nvPr/>
        </p:nvCxnSpPr>
        <p:spPr>
          <a:xfrm flipH="1">
            <a:off x="9019531" y="2901634"/>
            <a:ext cx="1329814" cy="2141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633B7FC-212A-137A-641D-B4BFA9F0A36F}"/>
              </a:ext>
            </a:extLst>
          </p:cNvPr>
          <p:cNvCxnSpPr>
            <a:cxnSpLocks/>
          </p:cNvCxnSpPr>
          <p:nvPr/>
        </p:nvCxnSpPr>
        <p:spPr>
          <a:xfrm flipH="1">
            <a:off x="10194065" y="2912288"/>
            <a:ext cx="677356" cy="21005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033AD97-FC78-D9B8-AF95-65C8AAD24A3F}"/>
              </a:ext>
            </a:extLst>
          </p:cNvPr>
          <p:cNvSpPr/>
          <p:nvPr/>
        </p:nvSpPr>
        <p:spPr>
          <a:xfrm>
            <a:off x="1710014" y="5055124"/>
            <a:ext cx="1281749" cy="286501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59803A22-A8CB-B78E-3B88-4B4DD5D6C48B}"/>
              </a:ext>
            </a:extLst>
          </p:cNvPr>
          <p:cNvSpPr/>
          <p:nvPr/>
        </p:nvSpPr>
        <p:spPr>
          <a:xfrm>
            <a:off x="7495069" y="2722460"/>
            <a:ext cx="868791" cy="187962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266150B-A175-5798-5050-4E3F5C0D3AF2}"/>
              </a:ext>
            </a:extLst>
          </p:cNvPr>
          <p:cNvSpPr/>
          <p:nvPr/>
        </p:nvSpPr>
        <p:spPr>
          <a:xfrm>
            <a:off x="3195586" y="5032863"/>
            <a:ext cx="1443106" cy="286501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3CD9437-45E8-6E21-E37F-91D30D3111A4}"/>
              </a:ext>
            </a:extLst>
          </p:cNvPr>
          <p:cNvSpPr/>
          <p:nvPr/>
        </p:nvSpPr>
        <p:spPr>
          <a:xfrm>
            <a:off x="8478353" y="2724326"/>
            <a:ext cx="480921" cy="187962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862AC418-ECC3-D210-EDD4-056BD9D4EF1F}"/>
              </a:ext>
            </a:extLst>
          </p:cNvPr>
          <p:cNvSpPr/>
          <p:nvPr/>
        </p:nvSpPr>
        <p:spPr>
          <a:xfrm>
            <a:off x="8999879" y="2722299"/>
            <a:ext cx="584163" cy="180753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3C31E2-50B9-D54C-3A37-0A1630DD3A5D}"/>
              </a:ext>
            </a:extLst>
          </p:cNvPr>
          <p:cNvSpPr/>
          <p:nvPr/>
        </p:nvSpPr>
        <p:spPr>
          <a:xfrm>
            <a:off x="4741943" y="5032862"/>
            <a:ext cx="1629250" cy="286501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6B6CE37-E01C-2AF7-A49E-037E3847D291}"/>
              </a:ext>
            </a:extLst>
          </p:cNvPr>
          <p:cNvSpPr/>
          <p:nvPr/>
        </p:nvSpPr>
        <p:spPr>
          <a:xfrm>
            <a:off x="6484669" y="5012841"/>
            <a:ext cx="1395128" cy="308763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5FA51906-F72B-A7F4-2F85-64EA087D453C}"/>
              </a:ext>
            </a:extLst>
          </p:cNvPr>
          <p:cNvSpPr/>
          <p:nvPr/>
        </p:nvSpPr>
        <p:spPr>
          <a:xfrm>
            <a:off x="9608189" y="2717277"/>
            <a:ext cx="483305" cy="195011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98A5C0D0-520B-55F1-FB22-241B4C510BC9}"/>
              </a:ext>
            </a:extLst>
          </p:cNvPr>
          <p:cNvSpPr/>
          <p:nvPr/>
        </p:nvSpPr>
        <p:spPr>
          <a:xfrm>
            <a:off x="7951510" y="5013844"/>
            <a:ext cx="1324111" cy="308763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BC5F6C8-93B1-8B07-92B2-FCFC1683F3F3}"/>
              </a:ext>
            </a:extLst>
          </p:cNvPr>
          <p:cNvSpPr/>
          <p:nvPr/>
        </p:nvSpPr>
        <p:spPr>
          <a:xfrm>
            <a:off x="10109771" y="2718127"/>
            <a:ext cx="483305" cy="183507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807C81-ACEB-69C7-9172-82C4C9A1075B}"/>
              </a:ext>
            </a:extLst>
          </p:cNvPr>
          <p:cNvSpPr txBox="1"/>
          <p:nvPr/>
        </p:nvSpPr>
        <p:spPr>
          <a:xfrm>
            <a:off x="9376912" y="241941"/>
            <a:ext cx="2544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Machine-Log-Navigator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DAFCE56-FDB4-3D6B-4CF0-C78AFCECC189}"/>
              </a:ext>
            </a:extLst>
          </p:cNvPr>
          <p:cNvSpPr txBox="1"/>
          <p:nvPr/>
        </p:nvSpPr>
        <p:spPr>
          <a:xfrm>
            <a:off x="5029200" y="1225647"/>
            <a:ext cx="20764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/>
              <a:t>(ca. 1-4  Log-Zeilen je Paket)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DBABE6C-CA06-7145-6ACC-1DF5C9BC533C}"/>
              </a:ext>
            </a:extLst>
          </p:cNvPr>
          <p:cNvSpPr txBox="1"/>
          <p:nvPr/>
        </p:nvSpPr>
        <p:spPr>
          <a:xfrm>
            <a:off x="2896948" y="5292336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theoretische Gewicht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569DF9E-9773-26D5-548F-6227A896CCB8}"/>
              </a:ext>
            </a:extLst>
          </p:cNvPr>
          <p:cNvSpPr txBox="1"/>
          <p:nvPr/>
        </p:nvSpPr>
        <p:spPr>
          <a:xfrm>
            <a:off x="4710405" y="5284131"/>
            <a:ext cx="16607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Waage Gewicht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CEC77FE-05DD-30C1-4702-F157B6B52AB3}"/>
              </a:ext>
            </a:extLst>
          </p:cNvPr>
          <p:cNvSpPr txBox="1"/>
          <p:nvPr/>
        </p:nvSpPr>
        <p:spPr>
          <a:xfrm>
            <a:off x="6442906" y="5306819"/>
            <a:ext cx="15505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Gewicht Leerverpackung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1E1253E-93AA-D79E-3B54-4812D2D181FA}"/>
              </a:ext>
            </a:extLst>
          </p:cNvPr>
          <p:cNvSpPr txBox="1"/>
          <p:nvPr/>
        </p:nvSpPr>
        <p:spPr>
          <a:xfrm>
            <a:off x="9155840" y="5301199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Artikelanzahl im Paket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CFEA5F8-68B4-7B8B-184F-A71C9BA68744}"/>
              </a:ext>
            </a:extLst>
          </p:cNvPr>
          <p:cNvSpPr txBox="1"/>
          <p:nvPr/>
        </p:nvSpPr>
        <p:spPr>
          <a:xfrm>
            <a:off x="7829982" y="5310900"/>
            <a:ext cx="169643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Threshold für KO ohne ML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F5C89E8-3FA7-123A-8526-F36AFE760DC4}"/>
              </a:ext>
            </a:extLst>
          </p:cNvPr>
          <p:cNvSpPr txBox="1"/>
          <p:nvPr/>
        </p:nvSpPr>
        <p:spPr>
          <a:xfrm>
            <a:off x="1272388" y="5303231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Packstation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3B39782-E5F6-3A45-A5B5-074F27756E32}"/>
              </a:ext>
            </a:extLst>
          </p:cNvPr>
          <p:cNvSpPr txBox="1"/>
          <p:nvPr/>
        </p:nvSpPr>
        <p:spPr>
          <a:xfrm>
            <a:off x="2725019" y="5913131"/>
            <a:ext cx="20764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 i="1" dirty="0">
                <a:solidFill>
                  <a:schemeClr val="bg1">
                    <a:lumMod val="65000"/>
                  </a:schemeClr>
                </a:solidFill>
              </a:rPr>
              <a:t>Bezeichnung Leerverpackung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2D4728-0D86-1944-BE55-7C374B7FF732}"/>
              </a:ext>
            </a:extLst>
          </p:cNvPr>
          <p:cNvSpPr txBox="1"/>
          <p:nvPr/>
        </p:nvSpPr>
        <p:spPr>
          <a:xfrm>
            <a:off x="2655666" y="6525313"/>
            <a:ext cx="95013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DE" sz="1200" dirty="0">
                <a:solidFill>
                  <a:srgbClr val="FF0000"/>
                </a:solidFill>
              </a:rPr>
              <a:t>Diese Logfiles wurden/werden anhand eines eigenen Python-Logfile-Generators verwendet, der verschiedene Real-Life Situationen  generiert</a:t>
            </a:r>
          </a:p>
        </p:txBody>
      </p:sp>
    </p:spTree>
    <p:extLst>
      <p:ext uri="{BB962C8B-B14F-4D97-AF65-F5344CB8AC3E}">
        <p14:creationId xmlns:p14="http://schemas.microsoft.com/office/powerpoint/2010/main" val="2897287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Microsoft Office PowerPoint</Application>
  <PresentationFormat>Breitbild</PresentationFormat>
  <Paragraphs>52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Projekt-Basis        Insight Log-Data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Michaelis</dc:creator>
  <cp:lastModifiedBy>Marco Michaelis</cp:lastModifiedBy>
  <cp:revision>303</cp:revision>
  <dcterms:created xsi:type="dcterms:W3CDTF">2026-03-02T05:44:05Z</dcterms:created>
  <dcterms:modified xsi:type="dcterms:W3CDTF">2026-04-07T09:08:28Z</dcterms:modified>
</cp:coreProperties>
</file>