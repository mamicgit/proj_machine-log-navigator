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3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28201E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439915-3FD1-4353-89A4-B2EBCDE59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A917496-4F7F-43A6-EAFB-F146E0B205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271F0A-FE1D-4E13-0BCF-F10A9ACD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BF892C-1FBC-0D28-5004-545C091D3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4B331D-5ACF-2B45-99C0-69FCE13CD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701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94E63B-B72D-B545-DD40-897F4B449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C1FEFB-3DD0-31B1-A133-D50672829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C01F79-21BC-4EFA-9B35-46A5DD999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87393-F257-11E9-8DBE-ABE6E2EB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1886FE-46A1-C011-D62E-076F296D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138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CA7D93-32A2-F4E7-17CF-535CBA2C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1061A8-8865-ED8D-4F6D-47E132E41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B5CF9F-47E0-E44E-30EC-D5F3B1A13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C8205-1044-9765-CDF0-546447E0E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3EE353-2179-62FB-B3A0-F01613850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20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B49E2D-C855-09C1-2B16-51425AF8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E03223-410B-7E81-280C-F13AA86EAA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96F73A9-C7FF-492E-6553-CD219745F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E6B3BA-246C-FFCB-CCBF-1CBBF7DBC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A68AB5-F3D6-8544-596C-376B8B10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4201D69-A8FB-097F-499D-EC6C2C481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332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0996BB-F7CA-108B-5F39-D5A929984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E93CE2-E899-C0F0-9C2C-E8EF59165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C8DDFD-E01A-F4FF-0A9F-62885D7C85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60E07E6-3F98-A8CC-0C13-AF73F7CA8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03C81C2-6480-5D77-5260-1CF4A0A44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D3A5D4-8A20-F442-40B0-63FE1A52D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4F6ECD-2318-944A-3174-801C243F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35F21F8-E74B-4C15-E5C4-A5BAE59FB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818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51CCA7-ADEA-9D49-923B-2DE01536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E90FFA-33FC-65AE-CA57-DE211E6E9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0AAEC79-347A-B252-0893-E977677A6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8A71F92-5E8B-65F1-D587-D2BBE03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58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982A473-17AC-7FBA-DBCA-DA9CF878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F17A183-AF26-B8E5-7006-25E9BC625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F585372-C4AF-62D1-B723-3C30F0D6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536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5CEB8C-8F30-7E2C-FF4D-01749026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F526C7-9E88-0A66-8CE5-95F0151E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3BB31D-1189-CC93-A9BF-7AF357052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AACB00-3B52-3FDF-039D-AFF7F310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5315A3-7775-CE03-39EB-09C54FA7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BB5D43D-7713-8584-2A3A-36659C7B4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4215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FD8A70-680C-DF95-BD43-2AC19D60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9F3F389-5136-1F2E-DFD1-19264B42E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BF7D270-226F-A713-AA6F-E5A540520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FF5DAB-AE90-67CF-45E5-BAAC309D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E74C94-71B1-C69A-24D8-CDC7CC67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3B6898-C8E7-1E22-9298-C8B09449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3245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580DE0-7A8B-37FC-7F48-A57BE3EA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38F6A66-B5B3-0DC5-53B7-D2018CF77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1F09CFA-7F4C-3928-11DF-438464C9F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38E3CBA-90B8-62B9-B2B3-6CCF742F4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52C08F-DCB1-02D3-F03B-42B9EC347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6267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E546E3F-CB8C-71A3-DC1E-91C44D637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B2E2000-38CE-7E3F-3177-F9474FBEBD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2FFB55-8814-36CF-EA3A-44AB8149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D8CC73-5F53-B0BE-9161-A6181F1F2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AFEBD1-AB1B-87DB-9B54-BF08A4AD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839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9E5CACB-B026-99C2-A7CE-78636205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9E3BF3-8522-1B23-66DD-BD08E945E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9BE5BB-2767-BCDD-B81F-A7F530B77A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064887-1312-4A4A-8E43-383F23D240A8}" type="datetimeFigureOut">
              <a:rPr lang="de-DE" smtClean="0"/>
              <a:t>24. Apr. 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DA965B-17B7-1871-1878-34821FBBF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D283CC-DEA5-185C-9E41-3A1EF4574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A4326-3B27-4A8F-A02D-0E314D71794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6335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6D4EFF53-F7EA-3888-22B7-6D62D44087C2}"/>
              </a:ext>
            </a:extLst>
          </p:cNvPr>
          <p:cNvSpPr txBox="1"/>
          <p:nvPr/>
        </p:nvSpPr>
        <p:spPr>
          <a:xfrm>
            <a:off x="428622" y="366492"/>
            <a:ext cx="11334750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5400" b="1" dirty="0">
                <a:solidFill>
                  <a:schemeClr val="accent3">
                    <a:lumMod val="50000"/>
                  </a:schemeClr>
                </a:solidFill>
              </a:rPr>
              <a:t>Logfilegenerator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7E3311E-C613-1E96-3078-F8DEEF8B77F3}"/>
              </a:ext>
            </a:extLst>
          </p:cNvPr>
          <p:cNvSpPr txBox="1"/>
          <p:nvPr/>
        </p:nvSpPr>
        <p:spPr>
          <a:xfrm>
            <a:off x="4479510" y="2391155"/>
            <a:ext cx="3232974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solidFill>
                  <a:srgbClr val="7030A0"/>
                </a:solidFill>
              </a:rPr>
              <a:t>Milestone-Ziel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342012D-4DAF-7C45-AAA7-A82F96E1B898}"/>
              </a:ext>
            </a:extLst>
          </p:cNvPr>
          <p:cNvSpPr txBox="1"/>
          <p:nvPr/>
        </p:nvSpPr>
        <p:spPr>
          <a:xfrm>
            <a:off x="428622" y="3586950"/>
            <a:ext cx="1133475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Jeder neue Durchlauf des Codes erzeugt ein neues Logfile mit neuen Daten-Konstellationen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3F62C12-57DF-0149-FFB8-FE7709B34BAF}"/>
              </a:ext>
            </a:extLst>
          </p:cNvPr>
          <p:cNvSpPr txBox="1"/>
          <p:nvPr/>
        </p:nvSpPr>
        <p:spPr>
          <a:xfrm>
            <a:off x="1788335" y="4325614"/>
            <a:ext cx="2872864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r"/>
            <a:r>
              <a:rPr lang="de-DE" dirty="0">
                <a:solidFill>
                  <a:schemeClr val="bg1"/>
                </a:solidFill>
              </a:rPr>
              <a:t>Verwendung </a:t>
            </a:r>
          </a:p>
          <a:p>
            <a:pPr algn="r"/>
            <a:r>
              <a:rPr lang="de-DE" dirty="0">
                <a:solidFill>
                  <a:schemeClr val="bg1"/>
                </a:solidFill>
              </a:rPr>
              <a:t>für das Projekt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B678866E-B7AF-500A-19CB-A71C9BC90941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6095997" y="2975930"/>
            <a:ext cx="0" cy="61102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>
            <a:extLst>
              <a:ext uri="{FF2B5EF4-FFF2-40B4-BE49-F238E27FC236}">
                <a16:creationId xmlns:a16="http://schemas.microsoft.com/office/drawing/2014/main" id="{84A25806-E66E-BF0F-7D5B-3A489B76BA34}"/>
              </a:ext>
            </a:extLst>
          </p:cNvPr>
          <p:cNvCxnSpPr>
            <a:cxnSpLocks/>
            <a:stCxn id="15" idx="2"/>
          </p:cNvCxnSpPr>
          <p:nvPr/>
        </p:nvCxnSpPr>
        <p:spPr>
          <a:xfrm flipH="1">
            <a:off x="4661199" y="3956282"/>
            <a:ext cx="1434798" cy="47562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20FEBDAA-F657-C3D9-FB13-3919CEEA3083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6095997" y="3956282"/>
            <a:ext cx="1552312" cy="4756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5D68DE34-EBEE-5855-A374-6A72041C6110}"/>
              </a:ext>
            </a:extLst>
          </p:cNvPr>
          <p:cNvSpPr txBox="1"/>
          <p:nvPr/>
        </p:nvSpPr>
        <p:spPr>
          <a:xfrm>
            <a:off x="7648309" y="4325614"/>
            <a:ext cx="2934016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Verwendung für Entwickler zur Maschinenoptimierung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3CD9A18A-F69A-5E95-F189-DC6524DFA9CC}"/>
              </a:ext>
            </a:extLst>
          </p:cNvPr>
          <p:cNvSpPr txBox="1"/>
          <p:nvPr/>
        </p:nvSpPr>
        <p:spPr>
          <a:xfrm>
            <a:off x="428622" y="1410804"/>
            <a:ext cx="11334750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de-DE" sz="2400" b="1" dirty="0">
                <a:solidFill>
                  <a:schemeClr val="bg1"/>
                </a:solidFill>
              </a:rPr>
              <a:t>Erzeugen von Real-Life-Szenarien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721A938-616A-DC62-3768-0941708B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210" y="5040698"/>
            <a:ext cx="3813327" cy="12496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0C30F8A2-C379-1F28-4962-2AD8EB87D1C1}"/>
              </a:ext>
            </a:extLst>
          </p:cNvPr>
          <p:cNvSpPr txBox="1"/>
          <p:nvPr/>
        </p:nvSpPr>
        <p:spPr>
          <a:xfrm rot="20303355">
            <a:off x="4644099" y="5428079"/>
            <a:ext cx="2421650" cy="369332"/>
          </a:xfrm>
          <a:prstGeom prst="rect">
            <a:avLst/>
          </a:prstGeom>
          <a:solidFill>
            <a:schemeClr val="tx1">
              <a:alpha val="0"/>
            </a:schemeClr>
          </a:solidFill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33CC"/>
                </a:solidFill>
              </a:rPr>
              <a:t>ca. 5.000 Shipments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D65FBBE-B198-6035-C3AC-BEC99156A116}"/>
              </a:ext>
            </a:extLst>
          </p:cNvPr>
          <p:cNvSpPr txBox="1"/>
          <p:nvPr/>
        </p:nvSpPr>
        <p:spPr>
          <a:xfrm rot="20303355">
            <a:off x="5550520" y="5480860"/>
            <a:ext cx="2075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solidFill>
                  <a:srgbClr val="0033CC"/>
                </a:solidFill>
              </a:rPr>
              <a:t>= ca. 15k log rows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C64B14E-0975-0C4E-A433-AC9D22A8F69A}"/>
              </a:ext>
            </a:extLst>
          </p:cNvPr>
          <p:cNvSpPr txBox="1"/>
          <p:nvPr/>
        </p:nvSpPr>
        <p:spPr>
          <a:xfrm>
            <a:off x="5306237" y="4763078"/>
            <a:ext cx="1579520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Logfile</a:t>
            </a:r>
          </a:p>
        </p:txBody>
      </p:sp>
    </p:spTree>
    <p:extLst>
      <p:ext uri="{BB962C8B-B14F-4D97-AF65-F5344CB8AC3E}">
        <p14:creationId xmlns:p14="http://schemas.microsoft.com/office/powerpoint/2010/main" val="3048981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5DA710-7168-EB00-79B6-37454B75F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071" y="277771"/>
            <a:ext cx="11422419" cy="1325563"/>
          </a:xfrm>
          <a:solidFill>
            <a:schemeClr val="tx1"/>
          </a:solidFill>
        </p:spPr>
        <p:txBody>
          <a:bodyPr/>
          <a:lstStyle/>
          <a:p>
            <a:pPr algn="ctr"/>
            <a:r>
              <a:rPr lang="de-DE" dirty="0">
                <a:solidFill>
                  <a:schemeClr val="bg1"/>
                </a:solidFill>
              </a:rPr>
              <a:t>Insight Log-Data</a:t>
            </a:r>
            <a:endParaRPr lang="de-DE" sz="1100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B5B1C7A-542E-D029-CEB3-F2F7C850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2" y="2572115"/>
            <a:ext cx="11260347" cy="12382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DC667D10-A414-B0A9-80D8-C5E3C9163BFB}"/>
              </a:ext>
            </a:extLst>
          </p:cNvPr>
          <p:cNvCxnSpPr>
            <a:cxnSpLocks/>
          </p:cNvCxnSpPr>
          <p:nvPr/>
        </p:nvCxnSpPr>
        <p:spPr>
          <a:xfrm flipH="1">
            <a:off x="726141" y="2048161"/>
            <a:ext cx="271386" cy="3935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51954C7B-F901-F892-F1BF-1C034AE3DEB0}"/>
              </a:ext>
            </a:extLst>
          </p:cNvPr>
          <p:cNvCxnSpPr>
            <a:cxnSpLocks/>
          </p:cNvCxnSpPr>
          <p:nvPr/>
        </p:nvCxnSpPr>
        <p:spPr>
          <a:xfrm>
            <a:off x="2105257" y="2060961"/>
            <a:ext cx="591761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077361E0-2EFF-D061-1E8C-F52D076B8DEB}"/>
              </a:ext>
            </a:extLst>
          </p:cNvPr>
          <p:cNvSpPr txBox="1"/>
          <p:nvPr/>
        </p:nvSpPr>
        <p:spPr>
          <a:xfrm>
            <a:off x="2003313" y="1841481"/>
            <a:ext cx="7880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Priorität</a:t>
            </a:r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33688DFC-30F4-96D0-0C28-44D2C9CB831A}"/>
              </a:ext>
            </a:extLst>
          </p:cNvPr>
          <p:cNvCxnSpPr>
            <a:cxnSpLocks/>
          </p:cNvCxnSpPr>
          <p:nvPr/>
        </p:nvCxnSpPr>
        <p:spPr>
          <a:xfrm flipH="1">
            <a:off x="1852286" y="2066023"/>
            <a:ext cx="252971" cy="40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E8C97D5-0B8D-2039-5E41-3AACA9D66653}"/>
              </a:ext>
            </a:extLst>
          </p:cNvPr>
          <p:cNvCxnSpPr>
            <a:cxnSpLocks/>
          </p:cNvCxnSpPr>
          <p:nvPr/>
        </p:nvCxnSpPr>
        <p:spPr>
          <a:xfrm>
            <a:off x="2991763" y="2057397"/>
            <a:ext cx="122925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feld 19">
            <a:extLst>
              <a:ext uri="{FF2B5EF4-FFF2-40B4-BE49-F238E27FC236}">
                <a16:creationId xmlns:a16="http://schemas.microsoft.com/office/drawing/2014/main" id="{CE283432-2F39-2D20-2620-8FDF4AE640DB}"/>
              </a:ext>
            </a:extLst>
          </p:cNvPr>
          <p:cNvSpPr txBox="1"/>
          <p:nvPr/>
        </p:nvSpPr>
        <p:spPr>
          <a:xfrm>
            <a:off x="2723103" y="1832245"/>
            <a:ext cx="1598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Maschinenbereich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7F34625A-A1DB-E985-D65C-25FC42083237}"/>
              </a:ext>
            </a:extLst>
          </p:cNvPr>
          <p:cNvSpPr txBox="1"/>
          <p:nvPr/>
        </p:nvSpPr>
        <p:spPr>
          <a:xfrm>
            <a:off x="712684" y="1832245"/>
            <a:ext cx="10527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Timestamp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5C056274-23DB-B81C-3878-BEBCB9EB13A9}"/>
              </a:ext>
            </a:extLst>
          </p:cNvPr>
          <p:cNvCxnSpPr>
            <a:cxnSpLocks/>
          </p:cNvCxnSpPr>
          <p:nvPr/>
        </p:nvCxnSpPr>
        <p:spPr>
          <a:xfrm flipH="1">
            <a:off x="1337395" y="2048161"/>
            <a:ext cx="269732" cy="4062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0BF8638A-5F98-025B-0676-9BA18539D51D}"/>
              </a:ext>
            </a:extLst>
          </p:cNvPr>
          <p:cNvCxnSpPr>
            <a:cxnSpLocks/>
          </p:cNvCxnSpPr>
          <p:nvPr/>
        </p:nvCxnSpPr>
        <p:spPr>
          <a:xfrm>
            <a:off x="786572" y="2048161"/>
            <a:ext cx="1005283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DF4310CE-F542-FA9E-CBD9-BA723708539D}"/>
              </a:ext>
            </a:extLst>
          </p:cNvPr>
          <p:cNvCxnSpPr>
            <a:cxnSpLocks/>
          </p:cNvCxnSpPr>
          <p:nvPr/>
        </p:nvCxnSpPr>
        <p:spPr>
          <a:xfrm flipH="1">
            <a:off x="2655666" y="2057397"/>
            <a:ext cx="336916" cy="479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39">
            <a:extLst>
              <a:ext uri="{FF2B5EF4-FFF2-40B4-BE49-F238E27FC236}">
                <a16:creationId xmlns:a16="http://schemas.microsoft.com/office/drawing/2014/main" id="{DCC30585-3466-90EF-5E1D-7BF3B01C9673}"/>
              </a:ext>
            </a:extLst>
          </p:cNvPr>
          <p:cNvCxnSpPr>
            <a:cxnSpLocks/>
          </p:cNvCxnSpPr>
          <p:nvPr/>
        </p:nvCxnSpPr>
        <p:spPr>
          <a:xfrm flipH="1">
            <a:off x="4052560" y="2081424"/>
            <a:ext cx="334713" cy="52903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mit Pfeil 40">
            <a:extLst>
              <a:ext uri="{FF2B5EF4-FFF2-40B4-BE49-F238E27FC236}">
                <a16:creationId xmlns:a16="http://schemas.microsoft.com/office/drawing/2014/main" id="{3399D439-86A4-19F6-50D2-7A472BD4038D}"/>
              </a:ext>
            </a:extLst>
          </p:cNvPr>
          <p:cNvCxnSpPr>
            <a:cxnSpLocks/>
          </p:cNvCxnSpPr>
          <p:nvPr/>
        </p:nvCxnSpPr>
        <p:spPr>
          <a:xfrm>
            <a:off x="6293765" y="2075884"/>
            <a:ext cx="5103908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feld 41">
            <a:extLst>
              <a:ext uri="{FF2B5EF4-FFF2-40B4-BE49-F238E27FC236}">
                <a16:creationId xmlns:a16="http://schemas.microsoft.com/office/drawing/2014/main" id="{F7664028-031C-EC25-49C7-F30529B1855C}"/>
              </a:ext>
            </a:extLst>
          </p:cNvPr>
          <p:cNvSpPr txBox="1"/>
          <p:nvPr/>
        </p:nvSpPr>
        <p:spPr>
          <a:xfrm>
            <a:off x="6289964" y="1827777"/>
            <a:ext cx="51758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Log-Details (hier Paket-, Scanner,- Gewichtsdaten)</a:t>
            </a:r>
          </a:p>
        </p:txBody>
      </p:sp>
      <p:cxnSp>
        <p:nvCxnSpPr>
          <p:cNvPr id="43" name="Gerade Verbindung mit Pfeil 42">
            <a:extLst>
              <a:ext uri="{FF2B5EF4-FFF2-40B4-BE49-F238E27FC236}">
                <a16:creationId xmlns:a16="http://schemas.microsoft.com/office/drawing/2014/main" id="{EA679DAB-6379-E91A-1158-20BCC0A650A0}"/>
              </a:ext>
            </a:extLst>
          </p:cNvPr>
          <p:cNvCxnSpPr>
            <a:cxnSpLocks/>
          </p:cNvCxnSpPr>
          <p:nvPr/>
        </p:nvCxnSpPr>
        <p:spPr>
          <a:xfrm>
            <a:off x="4387273" y="2081424"/>
            <a:ext cx="1679972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>
            <a:extLst>
              <a:ext uri="{FF2B5EF4-FFF2-40B4-BE49-F238E27FC236}">
                <a16:creationId xmlns:a16="http://schemas.microsoft.com/office/drawing/2014/main" id="{EF7C89CF-FA7C-8896-DB6B-598FFB4862FB}"/>
              </a:ext>
            </a:extLst>
          </p:cNvPr>
          <p:cNvSpPr txBox="1"/>
          <p:nvPr/>
        </p:nvSpPr>
        <p:spPr>
          <a:xfrm>
            <a:off x="4348125" y="1829125"/>
            <a:ext cx="1736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sz="1200" dirty="0"/>
              <a:t>IT Sytem der Logsource</a:t>
            </a:r>
          </a:p>
        </p:txBody>
      </p:sp>
      <p:cxnSp>
        <p:nvCxnSpPr>
          <p:cNvPr id="48" name="Gerade Verbindung mit Pfeil 47">
            <a:extLst>
              <a:ext uri="{FF2B5EF4-FFF2-40B4-BE49-F238E27FC236}">
                <a16:creationId xmlns:a16="http://schemas.microsoft.com/office/drawing/2014/main" id="{44DAC300-D027-93F7-F739-5C20810EE570}"/>
              </a:ext>
            </a:extLst>
          </p:cNvPr>
          <p:cNvCxnSpPr>
            <a:cxnSpLocks/>
          </p:cNvCxnSpPr>
          <p:nvPr/>
        </p:nvCxnSpPr>
        <p:spPr>
          <a:xfrm flipH="1">
            <a:off x="5925830" y="2081424"/>
            <a:ext cx="372760" cy="6247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fik 51">
            <a:extLst>
              <a:ext uri="{FF2B5EF4-FFF2-40B4-BE49-F238E27FC236}">
                <a16:creationId xmlns:a16="http://schemas.microsoft.com/office/drawing/2014/main" id="{62B0AEBD-0D4D-0C08-2A10-1A9F954B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4464952"/>
            <a:ext cx="10447847" cy="1769450"/>
          </a:xfrm>
          <a:prstGeom prst="ellipse">
            <a:avLst/>
          </a:prstGeom>
          <a:ln w="952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033F90DC-3DA5-A1B5-6B60-792A878FEBEB}"/>
              </a:ext>
            </a:extLst>
          </p:cNvPr>
          <p:cNvCxnSpPr>
            <a:cxnSpLocks/>
            <a:stCxn id="70" idx="2"/>
          </p:cNvCxnSpPr>
          <p:nvPr/>
        </p:nvCxnSpPr>
        <p:spPr>
          <a:xfrm flipH="1">
            <a:off x="4059784" y="2912288"/>
            <a:ext cx="4659030" cy="21287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DD0AD0F0-7F62-1F4D-FC69-B6CBE32E429A}"/>
              </a:ext>
            </a:extLst>
          </p:cNvPr>
          <p:cNvCxnSpPr>
            <a:cxnSpLocks/>
          </p:cNvCxnSpPr>
          <p:nvPr/>
        </p:nvCxnSpPr>
        <p:spPr>
          <a:xfrm flipH="1">
            <a:off x="2498436" y="2872509"/>
            <a:ext cx="5361709" cy="2160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 Verbindung mit Pfeil 56">
            <a:extLst>
              <a:ext uri="{FF2B5EF4-FFF2-40B4-BE49-F238E27FC236}">
                <a16:creationId xmlns:a16="http://schemas.microsoft.com/office/drawing/2014/main" id="{BEC1B94E-CC4D-A246-E119-D8268372D6F5}"/>
              </a:ext>
            </a:extLst>
          </p:cNvPr>
          <p:cNvCxnSpPr>
            <a:cxnSpLocks/>
            <a:stCxn id="71" idx="2"/>
          </p:cNvCxnSpPr>
          <p:nvPr/>
        </p:nvCxnSpPr>
        <p:spPr>
          <a:xfrm flipH="1">
            <a:off x="5728748" y="2903052"/>
            <a:ext cx="3563213" cy="21589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4AF5D3CC-026F-67A1-69CA-73FA136795BE}"/>
              </a:ext>
            </a:extLst>
          </p:cNvPr>
          <p:cNvCxnSpPr>
            <a:cxnSpLocks/>
          </p:cNvCxnSpPr>
          <p:nvPr/>
        </p:nvCxnSpPr>
        <p:spPr>
          <a:xfrm flipH="1">
            <a:off x="7325609" y="2918696"/>
            <a:ext cx="2513796" cy="21291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758D415-C2AC-69F9-C65A-F35D727E4BA6}"/>
              </a:ext>
            </a:extLst>
          </p:cNvPr>
          <p:cNvCxnSpPr>
            <a:cxnSpLocks/>
          </p:cNvCxnSpPr>
          <p:nvPr/>
        </p:nvCxnSpPr>
        <p:spPr>
          <a:xfrm flipH="1">
            <a:off x="9019531" y="2901634"/>
            <a:ext cx="1329814" cy="214188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1633B7FC-212A-137A-641D-B4BFA9F0A36F}"/>
              </a:ext>
            </a:extLst>
          </p:cNvPr>
          <p:cNvCxnSpPr>
            <a:cxnSpLocks/>
          </p:cNvCxnSpPr>
          <p:nvPr/>
        </p:nvCxnSpPr>
        <p:spPr>
          <a:xfrm flipH="1">
            <a:off x="10194065" y="2912288"/>
            <a:ext cx="677356" cy="210055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hteck 65">
            <a:extLst>
              <a:ext uri="{FF2B5EF4-FFF2-40B4-BE49-F238E27FC236}">
                <a16:creationId xmlns:a16="http://schemas.microsoft.com/office/drawing/2014/main" id="{7033AD97-FC78-D9B8-AF95-65C8AAD24A3F}"/>
              </a:ext>
            </a:extLst>
          </p:cNvPr>
          <p:cNvSpPr/>
          <p:nvPr/>
        </p:nvSpPr>
        <p:spPr>
          <a:xfrm>
            <a:off x="1710014" y="5055124"/>
            <a:ext cx="1281749" cy="286501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echteck 66">
            <a:extLst>
              <a:ext uri="{FF2B5EF4-FFF2-40B4-BE49-F238E27FC236}">
                <a16:creationId xmlns:a16="http://schemas.microsoft.com/office/drawing/2014/main" id="{59803A22-A8CB-B78E-3B88-4B4DD5D6C48B}"/>
              </a:ext>
            </a:extLst>
          </p:cNvPr>
          <p:cNvSpPr/>
          <p:nvPr/>
        </p:nvSpPr>
        <p:spPr>
          <a:xfrm>
            <a:off x="7495069" y="2722460"/>
            <a:ext cx="868791" cy="187962"/>
          </a:xfrm>
          <a:prstGeom prst="rect">
            <a:avLst/>
          </a:prstGeom>
          <a:solidFill>
            <a:srgbClr val="FFFF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F266150B-A175-5798-5050-4E3F5C0D3AF2}"/>
              </a:ext>
            </a:extLst>
          </p:cNvPr>
          <p:cNvSpPr/>
          <p:nvPr/>
        </p:nvSpPr>
        <p:spPr>
          <a:xfrm>
            <a:off x="3195586" y="5032863"/>
            <a:ext cx="1443106" cy="286501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D3CD9437-45E8-6E21-E37F-91D30D3111A4}"/>
              </a:ext>
            </a:extLst>
          </p:cNvPr>
          <p:cNvSpPr/>
          <p:nvPr/>
        </p:nvSpPr>
        <p:spPr>
          <a:xfrm>
            <a:off x="8478353" y="2724326"/>
            <a:ext cx="480921" cy="187962"/>
          </a:xfrm>
          <a:prstGeom prst="rect">
            <a:avLst/>
          </a:prstGeom>
          <a:solidFill>
            <a:srgbClr val="0070C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862AC418-ECC3-D210-EDD4-056BD9D4EF1F}"/>
              </a:ext>
            </a:extLst>
          </p:cNvPr>
          <p:cNvSpPr/>
          <p:nvPr/>
        </p:nvSpPr>
        <p:spPr>
          <a:xfrm>
            <a:off x="8999879" y="2722299"/>
            <a:ext cx="584163" cy="180753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C33C31E2-50B9-D54C-3A37-0A1630DD3A5D}"/>
              </a:ext>
            </a:extLst>
          </p:cNvPr>
          <p:cNvSpPr/>
          <p:nvPr/>
        </p:nvSpPr>
        <p:spPr>
          <a:xfrm>
            <a:off x="4741943" y="5032862"/>
            <a:ext cx="1629250" cy="286501"/>
          </a:xfrm>
          <a:prstGeom prst="rect">
            <a:avLst/>
          </a:prstGeom>
          <a:solidFill>
            <a:srgbClr val="00B05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E6B6CE37-E01C-2AF7-A49E-037E3847D291}"/>
              </a:ext>
            </a:extLst>
          </p:cNvPr>
          <p:cNvSpPr/>
          <p:nvPr/>
        </p:nvSpPr>
        <p:spPr>
          <a:xfrm>
            <a:off x="6484669" y="5012841"/>
            <a:ext cx="1395128" cy="308763"/>
          </a:xfrm>
          <a:prstGeom prst="rect">
            <a:avLst/>
          </a:prstGeom>
          <a:solidFill>
            <a:schemeClr val="accent5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5FA51906-F72B-A7F4-2F85-64EA087D453C}"/>
              </a:ext>
            </a:extLst>
          </p:cNvPr>
          <p:cNvSpPr/>
          <p:nvPr/>
        </p:nvSpPr>
        <p:spPr>
          <a:xfrm>
            <a:off x="9608189" y="2717277"/>
            <a:ext cx="483305" cy="195011"/>
          </a:xfrm>
          <a:prstGeom prst="rect">
            <a:avLst/>
          </a:prstGeom>
          <a:solidFill>
            <a:schemeClr val="accent5">
              <a:lumMod val="7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Rechteck 74">
            <a:extLst>
              <a:ext uri="{FF2B5EF4-FFF2-40B4-BE49-F238E27FC236}">
                <a16:creationId xmlns:a16="http://schemas.microsoft.com/office/drawing/2014/main" id="{98A5C0D0-520B-55F1-FB22-241B4C510BC9}"/>
              </a:ext>
            </a:extLst>
          </p:cNvPr>
          <p:cNvSpPr/>
          <p:nvPr/>
        </p:nvSpPr>
        <p:spPr>
          <a:xfrm>
            <a:off x="7951510" y="5013844"/>
            <a:ext cx="1324111" cy="308763"/>
          </a:xfrm>
          <a:prstGeom prst="rect">
            <a:avLst/>
          </a:prstGeom>
          <a:solidFill>
            <a:schemeClr val="tx1">
              <a:lumMod val="75000"/>
              <a:lumOff val="2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6" name="Rechteck 75">
            <a:extLst>
              <a:ext uri="{FF2B5EF4-FFF2-40B4-BE49-F238E27FC236}">
                <a16:creationId xmlns:a16="http://schemas.microsoft.com/office/drawing/2014/main" id="{6BC5F6C8-93B1-8B07-92B2-FCFC1683F3F3}"/>
              </a:ext>
            </a:extLst>
          </p:cNvPr>
          <p:cNvSpPr/>
          <p:nvPr/>
        </p:nvSpPr>
        <p:spPr>
          <a:xfrm>
            <a:off x="10109771" y="2718127"/>
            <a:ext cx="483305" cy="183507"/>
          </a:xfrm>
          <a:prstGeom prst="rect">
            <a:avLst/>
          </a:prstGeom>
          <a:solidFill>
            <a:schemeClr val="tx1">
              <a:lumMod val="75000"/>
              <a:lumOff val="25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DAFCE56-FDB4-3D6B-4CF0-C78AFCECC189}"/>
              </a:ext>
            </a:extLst>
          </p:cNvPr>
          <p:cNvSpPr txBox="1"/>
          <p:nvPr/>
        </p:nvSpPr>
        <p:spPr>
          <a:xfrm>
            <a:off x="5029200" y="1225647"/>
            <a:ext cx="20764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200" dirty="0"/>
              <a:t>(ca. 1-4  Log-Zeilen je Paket)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DBABE6C-CA06-7145-6ACC-1DF5C9BC533C}"/>
              </a:ext>
            </a:extLst>
          </p:cNvPr>
          <p:cNvSpPr txBox="1"/>
          <p:nvPr/>
        </p:nvSpPr>
        <p:spPr>
          <a:xfrm>
            <a:off x="2896948" y="5292336"/>
            <a:ext cx="2076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theoretische Gewicht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569DF9E-9773-26D5-548F-6227A896CCB8}"/>
              </a:ext>
            </a:extLst>
          </p:cNvPr>
          <p:cNvSpPr txBox="1"/>
          <p:nvPr/>
        </p:nvSpPr>
        <p:spPr>
          <a:xfrm>
            <a:off x="4710405" y="5284131"/>
            <a:ext cx="16607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Waage Gewicht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CEC77FE-05DD-30C1-4702-F157B6B52AB3}"/>
              </a:ext>
            </a:extLst>
          </p:cNvPr>
          <p:cNvSpPr txBox="1"/>
          <p:nvPr/>
        </p:nvSpPr>
        <p:spPr>
          <a:xfrm>
            <a:off x="6442906" y="5306819"/>
            <a:ext cx="15505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Gewicht Leerverpackung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1E1253E-93AA-D79E-3B54-4812D2D181FA}"/>
              </a:ext>
            </a:extLst>
          </p:cNvPr>
          <p:cNvSpPr txBox="1"/>
          <p:nvPr/>
        </p:nvSpPr>
        <p:spPr>
          <a:xfrm>
            <a:off x="9155840" y="5301199"/>
            <a:ext cx="2076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Artikelanzahl im Paket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CFEA5F8-68B4-7B8B-184F-A71C9BA68744}"/>
              </a:ext>
            </a:extLst>
          </p:cNvPr>
          <p:cNvSpPr txBox="1"/>
          <p:nvPr/>
        </p:nvSpPr>
        <p:spPr>
          <a:xfrm>
            <a:off x="7829982" y="5310900"/>
            <a:ext cx="169643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Threshold für KO ohne ML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EF5C89E8-3FA7-123A-8526-F36AFE760DC4}"/>
              </a:ext>
            </a:extLst>
          </p:cNvPr>
          <p:cNvSpPr txBox="1"/>
          <p:nvPr/>
        </p:nvSpPr>
        <p:spPr>
          <a:xfrm>
            <a:off x="1272388" y="5303231"/>
            <a:ext cx="2076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Packstation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73B39782-E5F6-3A45-A5B5-074F27756E32}"/>
              </a:ext>
            </a:extLst>
          </p:cNvPr>
          <p:cNvSpPr txBox="1"/>
          <p:nvPr/>
        </p:nvSpPr>
        <p:spPr>
          <a:xfrm>
            <a:off x="2725019" y="5913131"/>
            <a:ext cx="20764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i="1" dirty="0">
                <a:solidFill>
                  <a:schemeClr val="bg1">
                    <a:lumMod val="65000"/>
                  </a:schemeClr>
                </a:solidFill>
              </a:rPr>
              <a:t>Bezeichnung Leerverpackung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3CA7A38B-7BA0-7376-BD12-267653F38B40}"/>
              </a:ext>
            </a:extLst>
          </p:cNvPr>
          <p:cNvSpPr/>
          <p:nvPr/>
        </p:nvSpPr>
        <p:spPr>
          <a:xfrm>
            <a:off x="54109" y="55518"/>
            <a:ext cx="12082472" cy="6742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28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Breitbild</PresentationFormat>
  <Paragraphs>24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Insight Log-Data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Michaelis</dc:creator>
  <cp:lastModifiedBy>Marco Michaelis</cp:lastModifiedBy>
  <cp:revision>309</cp:revision>
  <dcterms:created xsi:type="dcterms:W3CDTF">2026-03-02T05:44:05Z</dcterms:created>
  <dcterms:modified xsi:type="dcterms:W3CDTF">2026-04-24T13:15:34Z</dcterms:modified>
</cp:coreProperties>
</file>